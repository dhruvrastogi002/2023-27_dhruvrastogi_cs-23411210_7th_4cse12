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B2F"/>
        </a:solidFill>
      </p:bgPr>
    </p:bg>
    <p:spTree>
      <p:nvGrpSpPr>
        <p:cNvPr id="1" name=""/>
        <p:cNvGrpSpPr/>
        <p:nvPr/>
      </p:nvGrpSpPr>
      <p:grpSpPr>
        <a:xfrm>
          <a:off x="0" y="0"/>
          <a:ext cx="0" cy="0"/>
          <a:chOff x="0" y="0"/>
          <a:chExt cx="0" cy="0"/>
        </a:xfrm>
      </p:grpSpPr>
      <p:sp>
        <p:nvSpPr>
          <p:cNvPr id="2" name="Shape 0"/>
          <p:cNvSpPr/>
          <p:nvPr/>
        </p:nvSpPr>
        <p:spPr>
          <a:xfrm rot="1200000">
            <a:off x="7589520" y="-1371600"/>
            <a:ext cx="7315200" cy="10058400"/>
          </a:xfrm>
          <a:prstGeom prst="rect">
            <a:avLst/>
          </a:prstGeom>
          <a:solidFill>
            <a:srgbClr val="10241C"/>
          </a:solidFill>
          <a:ln/>
        </p:spPr>
      </p:sp>
      <p:sp>
        <p:nvSpPr>
          <p:cNvPr id="3" name="Shape 1"/>
          <p:cNvSpPr/>
          <p:nvPr/>
        </p:nvSpPr>
        <p:spPr>
          <a:xfrm>
            <a:off x="11155680" y="548640"/>
            <a:ext cx="502920" cy="502920"/>
          </a:xfrm>
          <a:prstGeom prst="roundRect">
            <a:avLst>
              <a:gd name="adj" fmla="val 18182"/>
            </a:avLst>
          </a:prstGeom>
          <a:solidFill>
            <a:srgbClr val="8BC34A"/>
          </a:solidFill>
          <a:ln/>
        </p:spPr>
      </p:sp>
      <p:sp>
        <p:nvSpPr>
          <p:cNvPr id="4" name="Shape 2"/>
          <p:cNvSpPr/>
          <p:nvPr/>
        </p:nvSpPr>
        <p:spPr>
          <a:xfrm>
            <a:off x="822960" y="640080"/>
            <a:ext cx="1051560" cy="1051560"/>
          </a:xfrm>
          <a:prstGeom prst="roundRect">
            <a:avLst>
              <a:gd name="adj" fmla="val 10435"/>
            </a:avLst>
          </a:prstGeom>
          <a:solidFill>
            <a:srgbClr val="FFFFFF"/>
          </a:solidFill>
          <a:ln/>
        </p:spPr>
      </p:sp>
      <p:pic>
        <p:nvPicPr>
          <p:cNvPr id="5" name="Image 0" descr="iilm_logo.png">    </p:cNvPr>
          <p:cNvPicPr>
            <a:picLocks noChangeAspect="1"/>
          </p:cNvPicPr>
          <p:nvPr/>
        </p:nvPicPr>
        <p:blipFill>
          <a:blip r:embed="rId1"/>
          <a:stretch>
            <a:fillRect/>
          </a:stretch>
        </p:blipFill>
        <p:spPr>
          <a:xfrm>
            <a:off x="941832" y="758952"/>
            <a:ext cx="813816" cy="813816"/>
          </a:xfrm>
          <a:prstGeom prst="rect">
            <a:avLst/>
          </a:prstGeom>
        </p:spPr>
      </p:pic>
      <p:sp>
        <p:nvSpPr>
          <p:cNvPr id="6" name="Text 3"/>
          <p:cNvSpPr/>
          <p:nvPr/>
        </p:nvSpPr>
        <p:spPr>
          <a:xfrm>
            <a:off x="2057400" y="713232"/>
            <a:ext cx="5486400" cy="365760"/>
          </a:xfrm>
          <a:prstGeom prst="rect">
            <a:avLst/>
          </a:prstGeom>
          <a:noFill/>
          <a:ln/>
        </p:spPr>
        <p:txBody>
          <a:bodyPr wrap="square" rtlCol="0" anchor="ctr"/>
          <a:lstStyle/>
          <a:p>
            <a:pPr indent="0" marL="0">
              <a:buNone/>
            </a:pPr>
            <a:r>
              <a:rPr lang="en-US" sz="1400" b="1" spc="200" kern="0" dirty="0">
                <a:solidFill>
                  <a:srgbClr val="F4F6F2"/>
                </a:solidFill>
                <a:latin typeface="Calibri" pitchFamily="34" charset="0"/>
                <a:ea typeface="Calibri" pitchFamily="34" charset="-122"/>
                <a:cs typeface="Calibri" pitchFamily="34" charset="-120"/>
              </a:rPr>
              <a:t>IILM UNIVERSITY</a:t>
            </a:r>
            <a:endParaRPr lang="en-US" sz="1400" dirty="0"/>
          </a:p>
        </p:txBody>
      </p:sp>
      <p:sp>
        <p:nvSpPr>
          <p:cNvPr id="7" name="Text 4"/>
          <p:cNvSpPr/>
          <p:nvPr/>
        </p:nvSpPr>
        <p:spPr>
          <a:xfrm>
            <a:off x="2057400" y="1051560"/>
            <a:ext cx="5486400" cy="320040"/>
          </a:xfrm>
          <a:prstGeom prst="rect">
            <a:avLst/>
          </a:prstGeom>
          <a:noFill/>
          <a:ln/>
        </p:spPr>
        <p:txBody>
          <a:bodyPr wrap="square" rtlCol="0" anchor="ctr"/>
          <a:lstStyle/>
          <a:p>
            <a:pPr indent="0" marL="0">
              <a:buNone/>
            </a:pPr>
            <a:r>
              <a:rPr lang="en-US" sz="1100" dirty="0">
                <a:solidFill>
                  <a:srgbClr val="6B7970"/>
                </a:solidFill>
                <a:latin typeface="Calibri" pitchFamily="34" charset="0"/>
                <a:ea typeface="Calibri" pitchFamily="34" charset="-122"/>
                <a:cs typeface="Calibri" pitchFamily="34" charset="-120"/>
              </a:rPr>
              <a:t>Greater Noida, U.P.</a:t>
            </a:r>
            <a:endParaRPr lang="en-US" sz="1100" dirty="0"/>
          </a:p>
        </p:txBody>
      </p:sp>
      <p:sp>
        <p:nvSpPr>
          <p:cNvPr id="8" name="Text 5"/>
          <p:cNvSpPr/>
          <p:nvPr/>
        </p:nvSpPr>
        <p:spPr>
          <a:xfrm>
            <a:off x="822960" y="2651760"/>
            <a:ext cx="9144000" cy="365760"/>
          </a:xfrm>
          <a:prstGeom prst="rect">
            <a:avLst/>
          </a:prstGeom>
          <a:noFill/>
          <a:ln/>
        </p:spPr>
        <p:txBody>
          <a:bodyPr wrap="square" rtlCol="0" anchor="ctr"/>
          <a:lstStyle/>
          <a:p>
            <a:pPr indent="0" marL="0">
              <a:buNone/>
            </a:pPr>
            <a:r>
              <a:rPr lang="en-US" sz="1300" b="1" spc="200" kern="0" dirty="0">
                <a:solidFill>
                  <a:srgbClr val="8BC34A"/>
                </a:solidFill>
                <a:latin typeface="Calibri" pitchFamily="34" charset="0"/>
                <a:ea typeface="Calibri" pitchFamily="34" charset="-122"/>
                <a:cs typeface="Calibri" pitchFamily="34" charset="-120"/>
              </a:rPr>
              <a:t>Summer Internship Presentation</a:t>
            </a:r>
            <a:endParaRPr lang="en-US" sz="1300" dirty="0"/>
          </a:p>
        </p:txBody>
      </p:sp>
      <p:sp>
        <p:nvSpPr>
          <p:cNvPr id="9" name="Text 6"/>
          <p:cNvSpPr/>
          <p:nvPr/>
        </p:nvSpPr>
        <p:spPr>
          <a:xfrm>
            <a:off x="822960" y="3017520"/>
            <a:ext cx="8686800" cy="1554480"/>
          </a:xfrm>
          <a:prstGeom prst="rect">
            <a:avLst/>
          </a:prstGeom>
          <a:noFill/>
          <a:ln/>
        </p:spPr>
        <p:txBody>
          <a:bodyPr wrap="square" rtlCol="0" anchor="ctr"/>
          <a:lstStyle/>
          <a:p>
            <a:pPr indent="0" marL="0">
              <a:lnSpc>
                <a:spcPct val="105000"/>
              </a:lnSpc>
              <a:buNone/>
            </a:pPr>
            <a:r>
              <a:rPr lang="en-US" sz="3800" b="1" dirty="0">
                <a:solidFill>
                  <a:srgbClr val="FFFFFF"/>
                </a:solidFill>
                <a:latin typeface="Century Schoolbook" pitchFamily="34" charset="0"/>
                <a:ea typeface="Century Schoolbook" pitchFamily="34" charset="-122"/>
                <a:cs typeface="Century Schoolbook" pitchFamily="34" charset="-120"/>
              </a:rPr>
              <a:t>Data Analytics Job Simulation</a:t>
            </a:r>
            <a:endParaRPr lang="en-US" sz="3800" dirty="0"/>
          </a:p>
          <a:p>
            <a:pPr indent="0" marL="0">
              <a:lnSpc>
                <a:spcPct val="105000"/>
              </a:lnSpc>
              <a:buNone/>
            </a:pPr>
            <a:r>
              <a:rPr lang="en-US" sz="3800" b="1" dirty="0">
                <a:solidFill>
                  <a:srgbClr val="FFFFFF"/>
                </a:solidFill>
                <a:latin typeface="Century Schoolbook" pitchFamily="34" charset="0"/>
                <a:ea typeface="Century Schoolbook" pitchFamily="34" charset="-122"/>
                <a:cs typeface="Century Schoolbook" pitchFamily="34" charset="-120"/>
              </a:rPr>
              <a:t>at Deloitte</a:t>
            </a:r>
            <a:endParaRPr lang="en-US" sz="3800" dirty="0"/>
          </a:p>
        </p:txBody>
      </p:sp>
      <p:sp>
        <p:nvSpPr>
          <p:cNvPr id="10" name="Shape 7"/>
          <p:cNvSpPr/>
          <p:nvPr/>
        </p:nvSpPr>
        <p:spPr>
          <a:xfrm>
            <a:off x="822960" y="4663440"/>
            <a:ext cx="146304" cy="146304"/>
          </a:xfrm>
          <a:prstGeom prst="roundRect">
            <a:avLst>
              <a:gd name="adj" fmla="val 25000"/>
            </a:avLst>
          </a:prstGeom>
          <a:solidFill>
            <a:srgbClr val="8BC34A"/>
          </a:solidFill>
          <a:ln/>
        </p:spPr>
      </p:sp>
      <p:sp>
        <p:nvSpPr>
          <p:cNvPr id="11" name="Text 8"/>
          <p:cNvSpPr/>
          <p:nvPr/>
        </p:nvSpPr>
        <p:spPr>
          <a:xfrm>
            <a:off x="1097280" y="4599432"/>
            <a:ext cx="6400800" cy="274320"/>
          </a:xfrm>
          <a:prstGeom prst="rect">
            <a:avLst/>
          </a:prstGeom>
          <a:noFill/>
          <a:ln/>
        </p:spPr>
        <p:txBody>
          <a:bodyPr wrap="square" rtlCol="0" anchor="ctr"/>
          <a:lstStyle/>
          <a:p>
            <a:pPr indent="0" marL="0">
              <a:buNone/>
            </a:pPr>
            <a:r>
              <a:rPr lang="en-US" sz="1300" i="1" dirty="0">
                <a:solidFill>
                  <a:srgbClr val="6B7970"/>
                </a:solidFill>
                <a:latin typeface="Calibri" pitchFamily="34" charset="0"/>
                <a:ea typeface="Calibri" pitchFamily="34" charset="-122"/>
                <a:cs typeface="Calibri" pitchFamily="34" charset="-120"/>
              </a:rPr>
              <a:t>Deloitte × Forage — Forensic Technology Practice</a:t>
            </a:r>
            <a:endParaRPr lang="en-US" sz="1300" dirty="0"/>
          </a:p>
        </p:txBody>
      </p:sp>
      <p:sp>
        <p:nvSpPr>
          <p:cNvPr id="12" name="Text 9"/>
          <p:cNvSpPr/>
          <p:nvPr/>
        </p:nvSpPr>
        <p:spPr>
          <a:xfrm>
            <a:off x="822960" y="5166360"/>
            <a:ext cx="4754880" cy="256032"/>
          </a:xfrm>
          <a:prstGeom prst="rect">
            <a:avLst/>
          </a:prstGeom>
          <a:noFill/>
          <a:ln/>
        </p:spPr>
        <p:txBody>
          <a:bodyPr wrap="square" rtlCol="0" anchor="ctr"/>
          <a:lstStyle/>
          <a:p>
            <a:pPr indent="0" marL="0">
              <a:buNone/>
            </a:pPr>
            <a:r>
              <a:rPr lang="en-US" sz="950" b="1" spc="100" kern="0" dirty="0">
                <a:solidFill>
                  <a:srgbClr val="8BC34A"/>
                </a:solidFill>
                <a:latin typeface="Calibri" pitchFamily="34" charset="0"/>
                <a:ea typeface="Calibri" pitchFamily="34" charset="-122"/>
                <a:cs typeface="Calibri" pitchFamily="34" charset="-120"/>
              </a:rPr>
              <a:t>STUDENT NAME</a:t>
            </a:r>
            <a:endParaRPr lang="en-US" sz="950" dirty="0"/>
          </a:p>
        </p:txBody>
      </p:sp>
      <p:sp>
        <p:nvSpPr>
          <p:cNvPr id="13" name="Text 10"/>
          <p:cNvSpPr/>
          <p:nvPr/>
        </p:nvSpPr>
        <p:spPr>
          <a:xfrm>
            <a:off x="822960" y="5404104"/>
            <a:ext cx="4754880" cy="32004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Dhruv Rastogi</a:t>
            </a:r>
            <a:endParaRPr lang="en-US" sz="1400" dirty="0"/>
          </a:p>
        </p:txBody>
      </p:sp>
      <p:sp>
        <p:nvSpPr>
          <p:cNvPr id="14" name="Text 11"/>
          <p:cNvSpPr/>
          <p:nvPr/>
        </p:nvSpPr>
        <p:spPr>
          <a:xfrm>
            <a:off x="5943600" y="5166360"/>
            <a:ext cx="4754880" cy="256032"/>
          </a:xfrm>
          <a:prstGeom prst="rect">
            <a:avLst/>
          </a:prstGeom>
          <a:noFill/>
          <a:ln/>
        </p:spPr>
        <p:txBody>
          <a:bodyPr wrap="square" rtlCol="0" anchor="ctr"/>
          <a:lstStyle/>
          <a:p>
            <a:pPr indent="0" marL="0">
              <a:buNone/>
            </a:pPr>
            <a:r>
              <a:rPr lang="en-US" sz="950" b="1" spc="100" kern="0" dirty="0">
                <a:solidFill>
                  <a:srgbClr val="8BC34A"/>
                </a:solidFill>
                <a:latin typeface="Calibri" pitchFamily="34" charset="0"/>
                <a:ea typeface="Calibri" pitchFamily="34" charset="-122"/>
                <a:cs typeface="Calibri" pitchFamily="34" charset="-120"/>
              </a:rPr>
              <a:t>ENROLLMENT NUMBER</a:t>
            </a:r>
            <a:endParaRPr lang="en-US" sz="950" dirty="0"/>
          </a:p>
        </p:txBody>
      </p:sp>
      <p:sp>
        <p:nvSpPr>
          <p:cNvPr id="15" name="Text 12"/>
          <p:cNvSpPr/>
          <p:nvPr/>
        </p:nvSpPr>
        <p:spPr>
          <a:xfrm>
            <a:off x="5943600" y="5404104"/>
            <a:ext cx="4754880" cy="32004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CS23411210</a:t>
            </a:r>
            <a:endParaRPr lang="en-US" sz="1400" dirty="0"/>
          </a:p>
        </p:txBody>
      </p:sp>
      <p:sp>
        <p:nvSpPr>
          <p:cNvPr id="16" name="Text 13"/>
          <p:cNvSpPr/>
          <p:nvPr/>
        </p:nvSpPr>
        <p:spPr>
          <a:xfrm>
            <a:off x="822960" y="5879592"/>
            <a:ext cx="4754880" cy="256032"/>
          </a:xfrm>
          <a:prstGeom prst="rect">
            <a:avLst/>
          </a:prstGeom>
          <a:noFill/>
          <a:ln/>
        </p:spPr>
        <p:txBody>
          <a:bodyPr wrap="square" rtlCol="0" anchor="ctr"/>
          <a:lstStyle/>
          <a:p>
            <a:pPr indent="0" marL="0">
              <a:buNone/>
            </a:pPr>
            <a:r>
              <a:rPr lang="en-US" sz="950" b="1" spc="100" kern="0" dirty="0">
                <a:solidFill>
                  <a:srgbClr val="8BC34A"/>
                </a:solidFill>
                <a:latin typeface="Calibri" pitchFamily="34" charset="0"/>
                <a:ea typeface="Calibri" pitchFamily="34" charset="-122"/>
                <a:cs typeface="Calibri" pitchFamily="34" charset="-120"/>
              </a:rPr>
              <a:t>PROGRAM &amp; SEMESTER</a:t>
            </a:r>
            <a:endParaRPr lang="en-US" sz="950" dirty="0"/>
          </a:p>
        </p:txBody>
      </p:sp>
      <p:sp>
        <p:nvSpPr>
          <p:cNvPr id="17" name="Text 14"/>
          <p:cNvSpPr/>
          <p:nvPr/>
        </p:nvSpPr>
        <p:spPr>
          <a:xfrm>
            <a:off x="822960" y="6117336"/>
            <a:ext cx="4754880" cy="32004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B.Tech CSE, 7th Semester (4CSE12)</a:t>
            </a:r>
            <a:endParaRPr lang="en-US" sz="1400" dirty="0"/>
          </a:p>
        </p:txBody>
      </p:sp>
      <p:sp>
        <p:nvSpPr>
          <p:cNvPr id="18" name="Text 15"/>
          <p:cNvSpPr/>
          <p:nvPr/>
        </p:nvSpPr>
        <p:spPr>
          <a:xfrm>
            <a:off x="5943600" y="5879592"/>
            <a:ext cx="4754880" cy="256032"/>
          </a:xfrm>
          <a:prstGeom prst="rect">
            <a:avLst/>
          </a:prstGeom>
          <a:noFill/>
          <a:ln/>
        </p:spPr>
        <p:txBody>
          <a:bodyPr wrap="square" rtlCol="0" anchor="ctr"/>
          <a:lstStyle/>
          <a:p>
            <a:pPr indent="0" marL="0">
              <a:buNone/>
            </a:pPr>
            <a:r>
              <a:rPr lang="en-US" sz="950" b="1" spc="100" kern="0" dirty="0">
                <a:solidFill>
                  <a:srgbClr val="8BC34A"/>
                </a:solidFill>
                <a:latin typeface="Calibri" pitchFamily="34" charset="0"/>
                <a:ea typeface="Calibri" pitchFamily="34" charset="-122"/>
                <a:cs typeface="Calibri" pitchFamily="34" charset="-120"/>
              </a:rPr>
              <a:t>ORGANIZATION</a:t>
            </a:r>
            <a:endParaRPr lang="en-US" sz="950" dirty="0"/>
          </a:p>
        </p:txBody>
      </p:sp>
      <p:sp>
        <p:nvSpPr>
          <p:cNvPr id="19" name="Text 16"/>
          <p:cNvSpPr/>
          <p:nvPr/>
        </p:nvSpPr>
        <p:spPr>
          <a:xfrm>
            <a:off x="5943600" y="6117336"/>
            <a:ext cx="4754880" cy="32004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Deloitte (via Forage)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6B7970"/>
                </a:solidFill>
                <a:latin typeface="Calibri" pitchFamily="34" charset="0"/>
                <a:ea typeface="Calibri" pitchFamily="34" charset="-122"/>
                <a:cs typeface="Calibri" pitchFamily="34" charset="-120"/>
              </a:rPr>
              <a:t>02</a:t>
            </a:r>
            <a:endParaRPr lang="en-US" sz="1000" dirty="0"/>
          </a:p>
        </p:txBody>
      </p:sp>
      <p:sp>
        <p:nvSpPr>
          <p:cNvPr id="3" name="Text 1"/>
          <p:cNvSpPr/>
          <p:nvPr/>
        </p:nvSpPr>
        <p:spPr>
          <a:xfrm>
            <a:off x="640080" y="548640"/>
            <a:ext cx="5486400" cy="320040"/>
          </a:xfrm>
          <a:prstGeom prst="rect">
            <a:avLst/>
          </a:prstGeom>
          <a:noFill/>
          <a:ln/>
        </p:spPr>
        <p:txBody>
          <a:bodyPr wrap="square" rtlCol="0" anchor="ctr"/>
          <a:lstStyle/>
          <a:p>
            <a:pPr indent="0" marL="0">
              <a:buNone/>
            </a:pPr>
            <a:r>
              <a:rPr lang="en-US" sz="1200" b="1" spc="200" kern="0" dirty="0">
                <a:solidFill>
                  <a:srgbClr val="1B3B2F"/>
                </a:solidFill>
                <a:latin typeface="Calibri" pitchFamily="34" charset="0"/>
                <a:ea typeface="Calibri" pitchFamily="34" charset="-122"/>
                <a:cs typeface="Calibri" pitchFamily="34" charset="-120"/>
              </a:rPr>
              <a:t>INTRODUCTION</a:t>
            </a:r>
            <a:endParaRPr lang="en-US" sz="1200" dirty="0"/>
          </a:p>
        </p:txBody>
      </p:sp>
      <p:sp>
        <p:nvSpPr>
          <p:cNvPr id="4" name="Text 2"/>
          <p:cNvSpPr/>
          <p:nvPr/>
        </p:nvSpPr>
        <p:spPr>
          <a:xfrm>
            <a:off x="640080" y="868680"/>
            <a:ext cx="8229600" cy="640080"/>
          </a:xfrm>
          <a:prstGeom prst="rect">
            <a:avLst/>
          </a:prstGeom>
          <a:noFill/>
          <a:ln/>
        </p:spPr>
        <p:txBody>
          <a:bodyPr wrap="square" rtlCol="0" anchor="ctr"/>
          <a:lstStyle/>
          <a:p>
            <a:pPr indent="0" marL="0">
              <a:buNone/>
            </a:pPr>
            <a:r>
              <a:rPr lang="en-US" sz="2800" b="1" dirty="0">
                <a:solidFill>
                  <a:srgbClr val="1E2A24"/>
                </a:solidFill>
                <a:latin typeface="Century Schoolbook" pitchFamily="34" charset="0"/>
                <a:ea typeface="Century Schoolbook" pitchFamily="34" charset="-122"/>
                <a:cs typeface="Century Schoolbook" pitchFamily="34" charset="-120"/>
              </a:rPr>
              <a:t>Stepping into a junior analyst's role</a:t>
            </a:r>
            <a:endParaRPr lang="en-US" sz="2800" dirty="0"/>
          </a:p>
        </p:txBody>
      </p:sp>
      <p:sp>
        <p:nvSpPr>
          <p:cNvPr id="5" name="Shape 3"/>
          <p:cNvSpPr/>
          <p:nvPr/>
        </p:nvSpPr>
        <p:spPr>
          <a:xfrm>
            <a:off x="8686800" y="1737360"/>
            <a:ext cx="2834640" cy="4206240"/>
          </a:xfrm>
          <a:prstGeom prst="roundRect">
            <a:avLst>
              <a:gd name="adj" fmla="val 3226"/>
            </a:avLst>
          </a:prstGeom>
          <a:solidFill>
            <a:srgbClr val="1B3B2F"/>
          </a:solidFill>
          <a:ln/>
        </p:spPr>
      </p:sp>
      <p:sp>
        <p:nvSpPr>
          <p:cNvPr id="6" name="Shape 4"/>
          <p:cNvSpPr/>
          <p:nvPr/>
        </p:nvSpPr>
        <p:spPr>
          <a:xfrm>
            <a:off x="8961120" y="2057400"/>
            <a:ext cx="219456" cy="219456"/>
          </a:xfrm>
          <a:prstGeom prst="roundRect">
            <a:avLst>
              <a:gd name="adj" fmla="val 20833"/>
            </a:avLst>
          </a:prstGeom>
          <a:solidFill>
            <a:srgbClr val="8BC34A"/>
          </a:solidFill>
          <a:ln/>
        </p:spPr>
      </p:sp>
      <p:sp>
        <p:nvSpPr>
          <p:cNvPr id="7" name="Text 5"/>
          <p:cNvSpPr/>
          <p:nvPr/>
        </p:nvSpPr>
        <p:spPr>
          <a:xfrm>
            <a:off x="9281160" y="1984248"/>
            <a:ext cx="2103120" cy="256032"/>
          </a:xfrm>
          <a:prstGeom prst="rect">
            <a:avLst/>
          </a:prstGeom>
          <a:noFill/>
          <a:ln/>
        </p:spPr>
        <p:txBody>
          <a:bodyPr wrap="square" rtlCol="0" anchor="ctr"/>
          <a:lstStyle/>
          <a:p>
            <a:pPr indent="0" marL="0">
              <a:buNone/>
            </a:pPr>
            <a:r>
              <a:rPr lang="en-US" sz="950" b="1" spc="100" kern="0" dirty="0">
                <a:solidFill>
                  <a:srgbClr val="8BC34A"/>
                </a:solidFill>
                <a:latin typeface="Calibri" pitchFamily="34" charset="0"/>
                <a:ea typeface="Calibri" pitchFamily="34" charset="-122"/>
                <a:cs typeface="Calibri" pitchFamily="34" charset="-120"/>
              </a:rPr>
              <a:t>PROGRAM</a:t>
            </a:r>
            <a:endParaRPr lang="en-US" sz="950" dirty="0"/>
          </a:p>
        </p:txBody>
      </p:sp>
      <p:sp>
        <p:nvSpPr>
          <p:cNvPr id="8" name="Text 6"/>
          <p:cNvSpPr/>
          <p:nvPr/>
        </p:nvSpPr>
        <p:spPr>
          <a:xfrm>
            <a:off x="9281160" y="2203704"/>
            <a:ext cx="2148840" cy="594360"/>
          </a:xfrm>
          <a:prstGeom prst="rect">
            <a:avLst/>
          </a:prstGeom>
          <a:noFill/>
          <a:ln/>
        </p:spPr>
        <p:txBody>
          <a:bodyPr wrap="square" rtlCol="0" anchor="ctr"/>
          <a:lstStyle/>
          <a:p>
            <a:pPr indent="0" marL="0">
              <a:lnSpc>
                <a:spcPct val="110000"/>
              </a:lnSpc>
              <a:buNone/>
            </a:pPr>
            <a:r>
              <a:rPr lang="en-US" sz="1200" dirty="0">
                <a:solidFill>
                  <a:srgbClr val="FFFFFF"/>
                </a:solidFill>
                <a:latin typeface="Calibri" pitchFamily="34" charset="0"/>
                <a:ea typeface="Calibri" pitchFamily="34" charset="-122"/>
                <a:cs typeface="Calibri" pitchFamily="34" charset="-120"/>
              </a:rPr>
              <a:t>Data Analytics Job Simulation</a:t>
            </a:r>
            <a:endParaRPr lang="en-US" sz="1200" dirty="0"/>
          </a:p>
        </p:txBody>
      </p:sp>
      <p:sp>
        <p:nvSpPr>
          <p:cNvPr id="9" name="Shape 7"/>
          <p:cNvSpPr/>
          <p:nvPr/>
        </p:nvSpPr>
        <p:spPr>
          <a:xfrm>
            <a:off x="8961120" y="3017520"/>
            <a:ext cx="219456" cy="219456"/>
          </a:xfrm>
          <a:prstGeom prst="roundRect">
            <a:avLst>
              <a:gd name="adj" fmla="val 20833"/>
            </a:avLst>
          </a:prstGeom>
          <a:solidFill>
            <a:srgbClr val="8BC34A"/>
          </a:solidFill>
          <a:ln/>
        </p:spPr>
      </p:sp>
      <p:sp>
        <p:nvSpPr>
          <p:cNvPr id="10" name="Text 8"/>
          <p:cNvSpPr/>
          <p:nvPr/>
        </p:nvSpPr>
        <p:spPr>
          <a:xfrm>
            <a:off x="9281160" y="2944368"/>
            <a:ext cx="2103120" cy="256032"/>
          </a:xfrm>
          <a:prstGeom prst="rect">
            <a:avLst/>
          </a:prstGeom>
          <a:noFill/>
          <a:ln/>
        </p:spPr>
        <p:txBody>
          <a:bodyPr wrap="square" rtlCol="0" anchor="ctr"/>
          <a:lstStyle/>
          <a:p>
            <a:pPr indent="0" marL="0">
              <a:buNone/>
            </a:pPr>
            <a:r>
              <a:rPr lang="en-US" sz="950" b="1" spc="100" kern="0" dirty="0">
                <a:solidFill>
                  <a:srgbClr val="8BC34A"/>
                </a:solidFill>
                <a:latin typeface="Calibri" pitchFamily="34" charset="0"/>
                <a:ea typeface="Calibri" pitchFamily="34" charset="-122"/>
                <a:cs typeface="Calibri" pitchFamily="34" charset="-120"/>
              </a:rPr>
              <a:t>PROVIDER</a:t>
            </a:r>
            <a:endParaRPr lang="en-US" sz="950" dirty="0"/>
          </a:p>
        </p:txBody>
      </p:sp>
      <p:sp>
        <p:nvSpPr>
          <p:cNvPr id="11" name="Text 9"/>
          <p:cNvSpPr/>
          <p:nvPr/>
        </p:nvSpPr>
        <p:spPr>
          <a:xfrm>
            <a:off x="9281160" y="3163824"/>
            <a:ext cx="2148840" cy="594360"/>
          </a:xfrm>
          <a:prstGeom prst="rect">
            <a:avLst/>
          </a:prstGeom>
          <a:noFill/>
          <a:ln/>
        </p:spPr>
        <p:txBody>
          <a:bodyPr wrap="square" rtlCol="0" anchor="ctr"/>
          <a:lstStyle/>
          <a:p>
            <a:pPr indent="0" marL="0">
              <a:lnSpc>
                <a:spcPct val="110000"/>
              </a:lnSpc>
              <a:buNone/>
            </a:pPr>
            <a:r>
              <a:rPr lang="en-US" sz="1200" dirty="0">
                <a:solidFill>
                  <a:srgbClr val="FFFFFF"/>
                </a:solidFill>
                <a:latin typeface="Calibri" pitchFamily="34" charset="0"/>
                <a:ea typeface="Calibri" pitchFamily="34" charset="-122"/>
                <a:cs typeface="Calibri" pitchFamily="34" charset="-120"/>
              </a:rPr>
              <a:t>Deloitte via Forage</a:t>
            </a:r>
            <a:endParaRPr lang="en-US" sz="1200" dirty="0"/>
          </a:p>
        </p:txBody>
      </p:sp>
      <p:sp>
        <p:nvSpPr>
          <p:cNvPr id="12" name="Shape 10"/>
          <p:cNvSpPr/>
          <p:nvPr/>
        </p:nvSpPr>
        <p:spPr>
          <a:xfrm>
            <a:off x="8961120" y="3977640"/>
            <a:ext cx="219456" cy="219456"/>
          </a:xfrm>
          <a:prstGeom prst="roundRect">
            <a:avLst>
              <a:gd name="adj" fmla="val 20833"/>
            </a:avLst>
          </a:prstGeom>
          <a:solidFill>
            <a:srgbClr val="8BC34A"/>
          </a:solidFill>
          <a:ln/>
        </p:spPr>
      </p:sp>
      <p:sp>
        <p:nvSpPr>
          <p:cNvPr id="13" name="Text 11"/>
          <p:cNvSpPr/>
          <p:nvPr/>
        </p:nvSpPr>
        <p:spPr>
          <a:xfrm>
            <a:off x="9281160" y="3904488"/>
            <a:ext cx="2103120" cy="256032"/>
          </a:xfrm>
          <a:prstGeom prst="rect">
            <a:avLst/>
          </a:prstGeom>
          <a:noFill/>
          <a:ln/>
        </p:spPr>
        <p:txBody>
          <a:bodyPr wrap="square" rtlCol="0" anchor="ctr"/>
          <a:lstStyle/>
          <a:p>
            <a:pPr indent="0" marL="0">
              <a:buNone/>
            </a:pPr>
            <a:r>
              <a:rPr lang="en-US" sz="950" b="1" spc="100" kern="0" dirty="0">
                <a:solidFill>
                  <a:srgbClr val="8BC34A"/>
                </a:solidFill>
                <a:latin typeface="Calibri" pitchFamily="34" charset="0"/>
                <a:ea typeface="Calibri" pitchFamily="34" charset="-122"/>
                <a:cs typeface="Calibri" pitchFamily="34" charset="-120"/>
              </a:rPr>
              <a:t>DURATION</a:t>
            </a:r>
            <a:endParaRPr lang="en-US" sz="950" dirty="0"/>
          </a:p>
        </p:txBody>
      </p:sp>
      <p:sp>
        <p:nvSpPr>
          <p:cNvPr id="14" name="Text 12"/>
          <p:cNvSpPr/>
          <p:nvPr/>
        </p:nvSpPr>
        <p:spPr>
          <a:xfrm>
            <a:off x="9281160" y="4123944"/>
            <a:ext cx="2148840" cy="594360"/>
          </a:xfrm>
          <a:prstGeom prst="rect">
            <a:avLst/>
          </a:prstGeom>
          <a:noFill/>
          <a:ln/>
        </p:spPr>
        <p:txBody>
          <a:bodyPr wrap="square" rtlCol="0" anchor="ctr"/>
          <a:lstStyle/>
          <a:p>
            <a:pPr indent="0" marL="0">
              <a:lnSpc>
                <a:spcPct val="110000"/>
              </a:lnSpc>
              <a:buNone/>
            </a:pPr>
            <a:r>
              <a:rPr lang="en-US" sz="1200" dirty="0">
                <a:solidFill>
                  <a:srgbClr val="FFFFFF"/>
                </a:solidFill>
                <a:latin typeface="Calibri" pitchFamily="34" charset="0"/>
                <a:ea typeface="Calibri" pitchFamily="34" charset="-122"/>
                <a:cs typeface="Calibri" pitchFamily="34" charset="-120"/>
              </a:rPr>
              <a:t>Feb 2026 – Aug 2026</a:t>
            </a:r>
            <a:endParaRPr lang="en-US" sz="1200" dirty="0"/>
          </a:p>
        </p:txBody>
      </p:sp>
      <p:sp>
        <p:nvSpPr>
          <p:cNvPr id="15" name="Shape 13"/>
          <p:cNvSpPr/>
          <p:nvPr/>
        </p:nvSpPr>
        <p:spPr>
          <a:xfrm>
            <a:off x="8961120" y="4937760"/>
            <a:ext cx="219456" cy="219456"/>
          </a:xfrm>
          <a:prstGeom prst="roundRect">
            <a:avLst>
              <a:gd name="adj" fmla="val 20833"/>
            </a:avLst>
          </a:prstGeom>
          <a:solidFill>
            <a:srgbClr val="8BC34A"/>
          </a:solidFill>
          <a:ln/>
        </p:spPr>
      </p:sp>
      <p:sp>
        <p:nvSpPr>
          <p:cNvPr id="16" name="Text 14"/>
          <p:cNvSpPr/>
          <p:nvPr/>
        </p:nvSpPr>
        <p:spPr>
          <a:xfrm>
            <a:off x="9281160" y="4864608"/>
            <a:ext cx="2103120" cy="256032"/>
          </a:xfrm>
          <a:prstGeom prst="rect">
            <a:avLst/>
          </a:prstGeom>
          <a:noFill/>
          <a:ln/>
        </p:spPr>
        <p:txBody>
          <a:bodyPr wrap="square" rtlCol="0" anchor="ctr"/>
          <a:lstStyle/>
          <a:p>
            <a:pPr indent="0" marL="0">
              <a:buNone/>
            </a:pPr>
            <a:r>
              <a:rPr lang="en-US" sz="950" b="1" spc="100" kern="0" dirty="0">
                <a:solidFill>
                  <a:srgbClr val="8BC34A"/>
                </a:solidFill>
                <a:latin typeface="Calibri" pitchFamily="34" charset="0"/>
                <a:ea typeface="Calibri" pitchFamily="34" charset="-122"/>
                <a:cs typeface="Calibri" pitchFamily="34" charset="-120"/>
              </a:rPr>
              <a:t>FOCUS</a:t>
            </a:r>
            <a:endParaRPr lang="en-US" sz="950" dirty="0"/>
          </a:p>
        </p:txBody>
      </p:sp>
      <p:sp>
        <p:nvSpPr>
          <p:cNvPr id="17" name="Text 15"/>
          <p:cNvSpPr/>
          <p:nvPr/>
        </p:nvSpPr>
        <p:spPr>
          <a:xfrm>
            <a:off x="9281160" y="5084064"/>
            <a:ext cx="2148840" cy="594360"/>
          </a:xfrm>
          <a:prstGeom prst="rect">
            <a:avLst/>
          </a:prstGeom>
          <a:noFill/>
          <a:ln/>
        </p:spPr>
        <p:txBody>
          <a:bodyPr wrap="square" rtlCol="0" anchor="ctr"/>
          <a:lstStyle/>
          <a:p>
            <a:pPr indent="0" marL="0">
              <a:lnSpc>
                <a:spcPct val="110000"/>
              </a:lnSpc>
              <a:buNone/>
            </a:pPr>
            <a:r>
              <a:rPr lang="en-US" sz="1200" dirty="0">
                <a:solidFill>
                  <a:srgbClr val="FFFFFF"/>
                </a:solidFill>
                <a:latin typeface="Calibri" pitchFamily="34" charset="0"/>
                <a:ea typeface="Calibri" pitchFamily="34" charset="-122"/>
                <a:cs typeface="Calibri" pitchFamily="34" charset="-120"/>
              </a:rPr>
              <a:t>Forensic Technology</a:t>
            </a:r>
            <a:endParaRPr lang="en-US" sz="1200" dirty="0"/>
          </a:p>
        </p:txBody>
      </p:sp>
      <p:sp>
        <p:nvSpPr>
          <p:cNvPr id="18" name="Text 16"/>
          <p:cNvSpPr/>
          <p:nvPr/>
        </p:nvSpPr>
        <p:spPr>
          <a:xfrm>
            <a:off x="640080" y="1828800"/>
            <a:ext cx="7680960" cy="1463040"/>
          </a:xfrm>
          <a:prstGeom prst="rect">
            <a:avLst/>
          </a:prstGeom>
          <a:noFill/>
          <a:ln/>
        </p:spPr>
        <p:txBody>
          <a:bodyPr wrap="square" rtlCol="0" anchor="ctr"/>
          <a:lstStyle/>
          <a:p>
            <a:pPr indent="0" marL="0">
              <a:lnSpc>
                <a:spcPct val="125000"/>
              </a:lnSpc>
              <a:buNone/>
            </a:pPr>
            <a:r>
              <a:rPr lang="en-US" sz="1500" dirty="0">
                <a:solidFill>
                  <a:srgbClr val="1E2A24"/>
                </a:solidFill>
                <a:latin typeface="Calibri" pitchFamily="34" charset="0"/>
                <a:ea typeface="Calibri" pitchFamily="34" charset="-122"/>
                <a:cs typeface="Calibri" pitchFamily="34" charset="-120"/>
              </a:rPr>
              <a:t>As part of the Data Analytics Job Simulation offered by Deloitte through the Forage virtual experience platform, this project replicated the real-world responsibilities of a junior data analyst working with Deloitte's Forensic Technology team.</a:t>
            </a:r>
            <a:endParaRPr lang="en-US" sz="1500" dirty="0"/>
          </a:p>
        </p:txBody>
      </p:sp>
      <p:sp>
        <p:nvSpPr>
          <p:cNvPr id="19" name="Text 17"/>
          <p:cNvSpPr/>
          <p:nvPr/>
        </p:nvSpPr>
        <p:spPr>
          <a:xfrm>
            <a:off x="640080" y="3429000"/>
            <a:ext cx="7680960" cy="1463040"/>
          </a:xfrm>
          <a:prstGeom prst="rect">
            <a:avLst/>
          </a:prstGeom>
          <a:noFill/>
          <a:ln/>
        </p:spPr>
        <p:txBody>
          <a:bodyPr wrap="square" rtlCol="0" anchor="ctr"/>
          <a:lstStyle/>
          <a:p>
            <a:pPr indent="0" marL="0">
              <a:lnSpc>
                <a:spcPct val="125000"/>
              </a:lnSpc>
              <a:buNone/>
            </a:pPr>
            <a:r>
              <a:rPr lang="en-US" sz="1500" dirty="0">
                <a:solidFill>
                  <a:srgbClr val="6B7970"/>
                </a:solidFill>
                <a:latin typeface="Calibri" pitchFamily="34" charset="0"/>
                <a:ea typeface="Calibri" pitchFamily="34" charset="-122"/>
                <a:cs typeface="Calibri" pitchFamily="34" charset="-120"/>
              </a:rPr>
              <a:t>The self-paced, industry-designed simulation provided hands-on exposure to the tools, techniques, and thought processes used by data analytics professionals — working with a fictional client, Daikibo Industrials, to derive actionable business insights from raw data.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6B7970"/>
                </a:solidFill>
                <a:latin typeface="Calibri" pitchFamily="34" charset="0"/>
                <a:ea typeface="Calibri" pitchFamily="34" charset="-122"/>
                <a:cs typeface="Calibri" pitchFamily="34" charset="-120"/>
              </a:rPr>
              <a:t>03</a:t>
            </a:r>
            <a:endParaRPr lang="en-US" sz="1000" dirty="0"/>
          </a:p>
        </p:txBody>
      </p:sp>
      <p:sp>
        <p:nvSpPr>
          <p:cNvPr id="3" name="Text 1"/>
          <p:cNvSpPr/>
          <p:nvPr/>
        </p:nvSpPr>
        <p:spPr>
          <a:xfrm>
            <a:off x="640080" y="548640"/>
            <a:ext cx="5486400" cy="320040"/>
          </a:xfrm>
          <a:prstGeom prst="rect">
            <a:avLst/>
          </a:prstGeom>
          <a:noFill/>
          <a:ln/>
        </p:spPr>
        <p:txBody>
          <a:bodyPr wrap="square" rtlCol="0" anchor="ctr"/>
          <a:lstStyle/>
          <a:p>
            <a:pPr indent="0" marL="0">
              <a:buNone/>
            </a:pPr>
            <a:r>
              <a:rPr lang="en-US" sz="1200" b="1" spc="200" kern="0" dirty="0">
                <a:solidFill>
                  <a:srgbClr val="1B3B2F"/>
                </a:solidFill>
                <a:latin typeface="Calibri" pitchFamily="34" charset="0"/>
                <a:ea typeface="Calibri" pitchFamily="34" charset="-122"/>
                <a:cs typeface="Calibri" pitchFamily="34" charset="-120"/>
              </a:rPr>
              <a:t>ORGANIZATION PROFILE</a:t>
            </a:r>
            <a:endParaRPr lang="en-US" sz="1200" dirty="0"/>
          </a:p>
        </p:txBody>
      </p:sp>
      <p:sp>
        <p:nvSpPr>
          <p:cNvPr id="4" name="Text 2"/>
          <p:cNvSpPr/>
          <p:nvPr/>
        </p:nvSpPr>
        <p:spPr>
          <a:xfrm>
            <a:off x="640080" y="868680"/>
            <a:ext cx="9784080" cy="640080"/>
          </a:xfrm>
          <a:prstGeom prst="rect">
            <a:avLst/>
          </a:prstGeom>
          <a:noFill/>
          <a:ln/>
        </p:spPr>
        <p:txBody>
          <a:bodyPr wrap="square" rtlCol="0" anchor="ctr"/>
          <a:lstStyle/>
          <a:p>
            <a:pPr indent="0" marL="0">
              <a:buNone/>
            </a:pPr>
            <a:r>
              <a:rPr lang="en-US" sz="2600" b="1" dirty="0">
                <a:solidFill>
                  <a:srgbClr val="1E2A24"/>
                </a:solidFill>
                <a:latin typeface="Century Schoolbook" pitchFamily="34" charset="0"/>
                <a:ea typeface="Century Schoolbook" pitchFamily="34" charset="-122"/>
                <a:cs typeface="Century Schoolbook" pitchFamily="34" charset="-120"/>
              </a:rPr>
              <a:t>Deloitte — global professional services network</a:t>
            </a:r>
            <a:endParaRPr lang="en-US" sz="2600" dirty="0"/>
          </a:p>
        </p:txBody>
      </p:sp>
      <p:sp>
        <p:nvSpPr>
          <p:cNvPr id="5" name="Text 3"/>
          <p:cNvSpPr/>
          <p:nvPr/>
        </p:nvSpPr>
        <p:spPr>
          <a:xfrm>
            <a:off x="640080" y="1691640"/>
            <a:ext cx="6309360" cy="1828800"/>
          </a:xfrm>
          <a:prstGeom prst="rect">
            <a:avLst/>
          </a:prstGeom>
          <a:noFill/>
          <a:ln/>
        </p:spPr>
        <p:txBody>
          <a:bodyPr wrap="square" rtlCol="0" anchor="ctr"/>
          <a:lstStyle/>
          <a:p>
            <a:pPr indent="0" marL="0">
              <a:lnSpc>
                <a:spcPct val="130000"/>
              </a:lnSpc>
              <a:buNone/>
            </a:pPr>
            <a:r>
              <a:rPr lang="en-US" sz="1500" dirty="0">
                <a:solidFill>
                  <a:srgbClr val="1E2A24"/>
                </a:solidFill>
                <a:latin typeface="Calibri" pitchFamily="34" charset="0"/>
                <a:ea typeface="Calibri" pitchFamily="34" charset="-122"/>
                <a:cs typeface="Calibri" pitchFamily="34" charset="-120"/>
              </a:rPr>
              <a:t>Deloitte is one of the world's largest professional services networks, providing audit, consulting, financial advisory, risk advisory, tax, and forensic technology services to clients across the globe.</a:t>
            </a:r>
            <a:endParaRPr lang="en-US" sz="1500" dirty="0"/>
          </a:p>
        </p:txBody>
      </p:sp>
      <p:sp>
        <p:nvSpPr>
          <p:cNvPr id="6" name="Shape 4"/>
          <p:cNvSpPr/>
          <p:nvPr/>
        </p:nvSpPr>
        <p:spPr>
          <a:xfrm>
            <a:off x="640080" y="3749040"/>
            <a:ext cx="2011680" cy="1920240"/>
          </a:xfrm>
          <a:prstGeom prst="roundRect">
            <a:avLst>
              <a:gd name="adj" fmla="val 4762"/>
            </a:avLst>
          </a:prstGeom>
          <a:solidFill>
            <a:srgbClr val="F4F6F2"/>
          </a:solidFill>
          <a:ln/>
        </p:spPr>
      </p:sp>
      <p:sp>
        <p:nvSpPr>
          <p:cNvPr id="7" name="Shape 5"/>
          <p:cNvSpPr/>
          <p:nvPr/>
        </p:nvSpPr>
        <p:spPr>
          <a:xfrm>
            <a:off x="868680" y="3977640"/>
            <a:ext cx="365760" cy="365760"/>
          </a:xfrm>
          <a:prstGeom prst="roundRect">
            <a:avLst>
              <a:gd name="adj" fmla="val 20000"/>
            </a:avLst>
          </a:prstGeom>
          <a:solidFill>
            <a:srgbClr val="1B3B2F"/>
          </a:solidFill>
          <a:ln/>
        </p:spPr>
      </p:sp>
      <p:sp>
        <p:nvSpPr>
          <p:cNvPr id="8" name="Text 6"/>
          <p:cNvSpPr/>
          <p:nvPr/>
        </p:nvSpPr>
        <p:spPr>
          <a:xfrm>
            <a:off x="868680" y="3977640"/>
            <a:ext cx="365760" cy="365760"/>
          </a:xfrm>
          <a:prstGeom prst="rect">
            <a:avLst/>
          </a:prstGeom>
          <a:noFill/>
          <a:ln/>
        </p:spPr>
        <p:txBody>
          <a:bodyPr wrap="square" rtlCol="0" anchor="ctr"/>
          <a:lstStyle/>
          <a:p>
            <a:pPr algn="ctr" indent="0" marL="0">
              <a:buNone/>
            </a:pPr>
            <a:r>
              <a:rPr lang="en-US" sz="1400" b="1" dirty="0">
                <a:solidFill>
                  <a:srgbClr val="8BC34A"/>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822960" y="4480560"/>
            <a:ext cx="1691640" cy="365760"/>
          </a:xfrm>
          <a:prstGeom prst="rect">
            <a:avLst/>
          </a:prstGeom>
          <a:noFill/>
          <a:ln/>
        </p:spPr>
        <p:txBody>
          <a:bodyPr wrap="square" rtlCol="0" anchor="ctr"/>
          <a:lstStyle/>
          <a:p>
            <a:pPr indent="0" marL="0">
              <a:buNone/>
            </a:pPr>
            <a:r>
              <a:rPr lang="en-US" sz="1350" b="1" dirty="0">
                <a:solidFill>
                  <a:srgbClr val="1E2A24"/>
                </a:solidFill>
                <a:latin typeface="Century Schoolbook" pitchFamily="34" charset="0"/>
                <a:ea typeface="Century Schoolbook" pitchFamily="34" charset="-122"/>
                <a:cs typeface="Century Schoolbook" pitchFamily="34" charset="-120"/>
              </a:rPr>
              <a:t>Global Reach</a:t>
            </a:r>
            <a:endParaRPr lang="en-US" sz="1350" dirty="0"/>
          </a:p>
        </p:txBody>
      </p:sp>
      <p:sp>
        <p:nvSpPr>
          <p:cNvPr id="10" name="Text 8"/>
          <p:cNvSpPr/>
          <p:nvPr/>
        </p:nvSpPr>
        <p:spPr>
          <a:xfrm>
            <a:off x="822960" y="4846320"/>
            <a:ext cx="1691640" cy="777240"/>
          </a:xfrm>
          <a:prstGeom prst="rect">
            <a:avLst/>
          </a:prstGeom>
          <a:noFill/>
          <a:ln/>
        </p:spPr>
        <p:txBody>
          <a:bodyPr wrap="square" rtlCol="0" anchor="ctr"/>
          <a:lstStyle/>
          <a:p>
            <a:pPr indent="0" marL="0">
              <a:lnSpc>
                <a:spcPct val="115000"/>
              </a:lnSpc>
              <a:buNone/>
            </a:pPr>
            <a:r>
              <a:rPr lang="en-US" sz="1000" dirty="0">
                <a:solidFill>
                  <a:srgbClr val="6B7970"/>
                </a:solidFill>
                <a:latin typeface="Calibri" pitchFamily="34" charset="0"/>
                <a:ea typeface="Calibri" pitchFamily="34" charset="-122"/>
                <a:cs typeface="Calibri" pitchFamily="34" charset="-120"/>
              </a:rPr>
              <a:t>Professional services across audit, tax, advisory &amp; consulting</a:t>
            </a:r>
            <a:endParaRPr lang="en-US" sz="1000" dirty="0"/>
          </a:p>
        </p:txBody>
      </p:sp>
      <p:sp>
        <p:nvSpPr>
          <p:cNvPr id="11" name="Shape 9"/>
          <p:cNvSpPr/>
          <p:nvPr/>
        </p:nvSpPr>
        <p:spPr>
          <a:xfrm>
            <a:off x="2834640" y="3749040"/>
            <a:ext cx="2011680" cy="1920240"/>
          </a:xfrm>
          <a:prstGeom prst="roundRect">
            <a:avLst>
              <a:gd name="adj" fmla="val 4762"/>
            </a:avLst>
          </a:prstGeom>
          <a:solidFill>
            <a:srgbClr val="F4F6F2"/>
          </a:solidFill>
          <a:ln/>
        </p:spPr>
      </p:sp>
      <p:sp>
        <p:nvSpPr>
          <p:cNvPr id="12" name="Shape 10"/>
          <p:cNvSpPr/>
          <p:nvPr/>
        </p:nvSpPr>
        <p:spPr>
          <a:xfrm>
            <a:off x="3063240" y="3977640"/>
            <a:ext cx="365760" cy="365760"/>
          </a:xfrm>
          <a:prstGeom prst="roundRect">
            <a:avLst>
              <a:gd name="adj" fmla="val 20000"/>
            </a:avLst>
          </a:prstGeom>
          <a:solidFill>
            <a:srgbClr val="1B3B2F"/>
          </a:solidFill>
          <a:ln/>
        </p:spPr>
      </p:sp>
      <p:sp>
        <p:nvSpPr>
          <p:cNvPr id="13" name="Text 11"/>
          <p:cNvSpPr/>
          <p:nvPr/>
        </p:nvSpPr>
        <p:spPr>
          <a:xfrm>
            <a:off x="3063240" y="3977640"/>
            <a:ext cx="365760" cy="365760"/>
          </a:xfrm>
          <a:prstGeom prst="rect">
            <a:avLst/>
          </a:prstGeom>
          <a:noFill/>
          <a:ln/>
        </p:spPr>
        <p:txBody>
          <a:bodyPr wrap="square" rtlCol="0" anchor="ctr"/>
          <a:lstStyle/>
          <a:p>
            <a:pPr algn="ctr" indent="0" marL="0">
              <a:buNone/>
            </a:pPr>
            <a:r>
              <a:rPr lang="en-US" sz="1400" b="1" dirty="0">
                <a:solidFill>
                  <a:srgbClr val="8BC34A"/>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3017520" y="4480560"/>
            <a:ext cx="1691640" cy="365760"/>
          </a:xfrm>
          <a:prstGeom prst="rect">
            <a:avLst/>
          </a:prstGeom>
          <a:noFill/>
          <a:ln/>
        </p:spPr>
        <p:txBody>
          <a:bodyPr wrap="square" rtlCol="0" anchor="ctr"/>
          <a:lstStyle/>
          <a:p>
            <a:pPr indent="0" marL="0">
              <a:buNone/>
            </a:pPr>
            <a:r>
              <a:rPr lang="en-US" sz="1350" b="1" dirty="0">
                <a:solidFill>
                  <a:srgbClr val="1E2A24"/>
                </a:solidFill>
                <a:latin typeface="Century Schoolbook" pitchFamily="34" charset="0"/>
                <a:ea typeface="Century Schoolbook" pitchFamily="34" charset="-122"/>
                <a:cs typeface="Century Schoolbook" pitchFamily="34" charset="-120"/>
              </a:rPr>
              <a:t>Forage Partnership</a:t>
            </a:r>
            <a:endParaRPr lang="en-US" sz="1350" dirty="0"/>
          </a:p>
        </p:txBody>
      </p:sp>
      <p:sp>
        <p:nvSpPr>
          <p:cNvPr id="15" name="Text 13"/>
          <p:cNvSpPr/>
          <p:nvPr/>
        </p:nvSpPr>
        <p:spPr>
          <a:xfrm>
            <a:off x="3017520" y="4846320"/>
            <a:ext cx="1691640" cy="777240"/>
          </a:xfrm>
          <a:prstGeom prst="rect">
            <a:avLst/>
          </a:prstGeom>
          <a:noFill/>
          <a:ln/>
        </p:spPr>
        <p:txBody>
          <a:bodyPr wrap="square" rtlCol="0" anchor="ctr"/>
          <a:lstStyle/>
          <a:p>
            <a:pPr indent="0" marL="0">
              <a:lnSpc>
                <a:spcPct val="115000"/>
              </a:lnSpc>
              <a:buNone/>
            </a:pPr>
            <a:r>
              <a:rPr lang="en-US" sz="1000" dirty="0">
                <a:solidFill>
                  <a:srgbClr val="6B7970"/>
                </a:solidFill>
                <a:latin typeface="Calibri" pitchFamily="34" charset="0"/>
                <a:ea typeface="Calibri" pitchFamily="34" charset="-122"/>
                <a:cs typeface="Calibri" pitchFamily="34" charset="-120"/>
              </a:rPr>
              <a:t>Free, self-paced virtual job simulations for career access</a:t>
            </a:r>
            <a:endParaRPr lang="en-US" sz="1000" dirty="0"/>
          </a:p>
        </p:txBody>
      </p:sp>
      <p:sp>
        <p:nvSpPr>
          <p:cNvPr id="16" name="Shape 14"/>
          <p:cNvSpPr/>
          <p:nvPr/>
        </p:nvSpPr>
        <p:spPr>
          <a:xfrm>
            <a:off x="5029200" y="3749040"/>
            <a:ext cx="2011680" cy="1920240"/>
          </a:xfrm>
          <a:prstGeom prst="roundRect">
            <a:avLst>
              <a:gd name="adj" fmla="val 4762"/>
            </a:avLst>
          </a:prstGeom>
          <a:solidFill>
            <a:srgbClr val="F4F6F2"/>
          </a:solidFill>
          <a:ln/>
        </p:spPr>
      </p:sp>
      <p:sp>
        <p:nvSpPr>
          <p:cNvPr id="17" name="Shape 15"/>
          <p:cNvSpPr/>
          <p:nvPr/>
        </p:nvSpPr>
        <p:spPr>
          <a:xfrm>
            <a:off x="5257800" y="3977640"/>
            <a:ext cx="365760" cy="365760"/>
          </a:xfrm>
          <a:prstGeom prst="roundRect">
            <a:avLst>
              <a:gd name="adj" fmla="val 20000"/>
            </a:avLst>
          </a:prstGeom>
          <a:solidFill>
            <a:srgbClr val="1B3B2F"/>
          </a:solidFill>
          <a:ln/>
        </p:spPr>
      </p:sp>
      <p:sp>
        <p:nvSpPr>
          <p:cNvPr id="18" name="Text 16"/>
          <p:cNvSpPr/>
          <p:nvPr/>
        </p:nvSpPr>
        <p:spPr>
          <a:xfrm>
            <a:off x="5257800" y="3977640"/>
            <a:ext cx="365760" cy="365760"/>
          </a:xfrm>
          <a:prstGeom prst="rect">
            <a:avLst/>
          </a:prstGeom>
          <a:noFill/>
          <a:ln/>
        </p:spPr>
        <p:txBody>
          <a:bodyPr wrap="square" rtlCol="0" anchor="ctr"/>
          <a:lstStyle/>
          <a:p>
            <a:pPr algn="ctr" indent="0" marL="0">
              <a:buNone/>
            </a:pPr>
            <a:r>
              <a:rPr lang="en-US" sz="1400" b="1" dirty="0">
                <a:solidFill>
                  <a:srgbClr val="8BC34A"/>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5212080" y="4480560"/>
            <a:ext cx="1691640" cy="365760"/>
          </a:xfrm>
          <a:prstGeom prst="rect">
            <a:avLst/>
          </a:prstGeom>
          <a:noFill/>
          <a:ln/>
        </p:spPr>
        <p:txBody>
          <a:bodyPr wrap="square" rtlCol="0" anchor="ctr"/>
          <a:lstStyle/>
          <a:p>
            <a:pPr indent="0" marL="0">
              <a:buNone/>
            </a:pPr>
            <a:r>
              <a:rPr lang="en-US" sz="1350" b="1" dirty="0">
                <a:solidFill>
                  <a:srgbClr val="1E2A24"/>
                </a:solidFill>
                <a:latin typeface="Century Schoolbook" pitchFamily="34" charset="0"/>
                <a:ea typeface="Century Schoolbook" pitchFamily="34" charset="-122"/>
                <a:cs typeface="Century Schoolbook" pitchFamily="34" charset="-120"/>
              </a:rPr>
              <a:t>Forensic Tech Focus</a:t>
            </a:r>
            <a:endParaRPr lang="en-US" sz="1350" dirty="0"/>
          </a:p>
        </p:txBody>
      </p:sp>
      <p:sp>
        <p:nvSpPr>
          <p:cNvPr id="20" name="Text 18"/>
          <p:cNvSpPr/>
          <p:nvPr/>
        </p:nvSpPr>
        <p:spPr>
          <a:xfrm>
            <a:off x="5212080" y="4846320"/>
            <a:ext cx="1691640" cy="777240"/>
          </a:xfrm>
          <a:prstGeom prst="rect">
            <a:avLst/>
          </a:prstGeom>
          <a:noFill/>
          <a:ln/>
        </p:spPr>
        <p:txBody>
          <a:bodyPr wrap="square" rtlCol="0" anchor="ctr"/>
          <a:lstStyle/>
          <a:p>
            <a:pPr indent="0" marL="0">
              <a:lnSpc>
                <a:spcPct val="115000"/>
              </a:lnSpc>
              <a:buNone/>
            </a:pPr>
            <a:r>
              <a:rPr lang="en-US" sz="1000" dirty="0">
                <a:solidFill>
                  <a:srgbClr val="6B7970"/>
                </a:solidFill>
                <a:latin typeface="Calibri" pitchFamily="34" charset="0"/>
                <a:ea typeface="Calibri" pitchFamily="34" charset="-122"/>
                <a:cs typeface="Calibri" pitchFamily="34" charset="-120"/>
              </a:rPr>
              <a:t>This simulation modeled the Forensic Technology practice</a:t>
            </a:r>
            <a:endParaRPr lang="en-US" sz="1000" dirty="0"/>
          </a:p>
        </p:txBody>
      </p:sp>
      <p:sp>
        <p:nvSpPr>
          <p:cNvPr id="21" name="Shape 19"/>
          <p:cNvSpPr/>
          <p:nvPr/>
        </p:nvSpPr>
        <p:spPr>
          <a:xfrm>
            <a:off x="7315200" y="1691640"/>
            <a:ext cx="4206240" cy="1874520"/>
          </a:xfrm>
          <a:prstGeom prst="roundRect">
            <a:avLst>
              <a:gd name="adj" fmla="val 4878"/>
            </a:avLst>
          </a:prstGeom>
          <a:solidFill>
            <a:srgbClr val="1B3B2F"/>
          </a:solidFill>
          <a:ln/>
        </p:spPr>
      </p:sp>
      <p:sp>
        <p:nvSpPr>
          <p:cNvPr id="22" name="Text 20"/>
          <p:cNvSpPr/>
          <p:nvPr/>
        </p:nvSpPr>
        <p:spPr>
          <a:xfrm>
            <a:off x="7635240" y="1965960"/>
            <a:ext cx="3657600" cy="457200"/>
          </a:xfrm>
          <a:prstGeom prst="rect">
            <a:avLst/>
          </a:prstGeom>
          <a:noFill/>
          <a:ln/>
        </p:spPr>
        <p:txBody>
          <a:bodyPr wrap="square" rtlCol="0" anchor="ctr"/>
          <a:lstStyle/>
          <a:p>
            <a:pP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Deloitte.</a:t>
            </a:r>
            <a:endParaRPr lang="en-US" sz="2200" dirty="0"/>
          </a:p>
        </p:txBody>
      </p:sp>
      <p:sp>
        <p:nvSpPr>
          <p:cNvPr id="23" name="Text 21"/>
          <p:cNvSpPr/>
          <p:nvPr/>
        </p:nvSpPr>
        <p:spPr>
          <a:xfrm>
            <a:off x="7635240" y="2468880"/>
            <a:ext cx="3657600" cy="960120"/>
          </a:xfrm>
          <a:prstGeom prst="rect">
            <a:avLst/>
          </a:prstGeom>
          <a:noFill/>
          <a:ln/>
        </p:spPr>
        <p:txBody>
          <a:bodyPr wrap="square" rtlCol="0" anchor="ctr"/>
          <a:lstStyle/>
          <a:p>
            <a:pPr indent="0" marL="0">
              <a:lnSpc>
                <a:spcPct val="125000"/>
              </a:lnSpc>
              <a:buNone/>
            </a:pPr>
            <a:r>
              <a:rPr lang="en-US" sz="1200" i="1" dirty="0">
                <a:solidFill>
                  <a:srgbClr val="F4F6F2"/>
                </a:solidFill>
                <a:latin typeface="Calibri" pitchFamily="34" charset="0"/>
                <a:ea typeface="Calibri" pitchFamily="34" charset="-122"/>
                <a:cs typeface="Calibri" pitchFamily="34" charset="-120"/>
              </a:rPr>
              <a:t>Partnering with Forage to widen access to career-building, real-world experience.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6B7970"/>
                </a:solidFill>
                <a:latin typeface="Calibri" pitchFamily="34" charset="0"/>
                <a:ea typeface="Calibri" pitchFamily="34" charset="-122"/>
                <a:cs typeface="Calibri" pitchFamily="34" charset="-120"/>
              </a:rPr>
              <a:t>04</a:t>
            </a:r>
            <a:endParaRPr lang="en-US" sz="1000" dirty="0"/>
          </a:p>
        </p:txBody>
      </p:sp>
      <p:sp>
        <p:nvSpPr>
          <p:cNvPr id="3" name="Text 1"/>
          <p:cNvSpPr/>
          <p:nvPr/>
        </p:nvSpPr>
        <p:spPr>
          <a:xfrm>
            <a:off x="640080" y="548640"/>
            <a:ext cx="5486400" cy="320040"/>
          </a:xfrm>
          <a:prstGeom prst="rect">
            <a:avLst/>
          </a:prstGeom>
          <a:noFill/>
          <a:ln/>
        </p:spPr>
        <p:txBody>
          <a:bodyPr wrap="square" rtlCol="0" anchor="ctr"/>
          <a:lstStyle/>
          <a:p>
            <a:pPr indent="0" marL="0">
              <a:buNone/>
            </a:pPr>
            <a:r>
              <a:rPr lang="en-US" sz="1200" b="1" spc="200" kern="0" dirty="0">
                <a:solidFill>
                  <a:srgbClr val="1B3B2F"/>
                </a:solidFill>
                <a:latin typeface="Calibri" pitchFamily="34" charset="0"/>
                <a:ea typeface="Calibri" pitchFamily="34" charset="-122"/>
                <a:cs typeface="Calibri" pitchFamily="34" charset="-120"/>
              </a:rPr>
              <a:t>PROBLEM STATEMENT</a:t>
            </a:r>
            <a:endParaRPr lang="en-US" sz="1200" dirty="0"/>
          </a:p>
        </p:txBody>
      </p:sp>
      <p:sp>
        <p:nvSpPr>
          <p:cNvPr id="4" name="Text 2"/>
          <p:cNvSpPr/>
          <p:nvPr/>
        </p:nvSpPr>
        <p:spPr>
          <a:xfrm>
            <a:off x="640080" y="868680"/>
            <a:ext cx="9601200" cy="640080"/>
          </a:xfrm>
          <a:prstGeom prst="rect">
            <a:avLst/>
          </a:prstGeom>
          <a:noFill/>
          <a:ln/>
        </p:spPr>
        <p:txBody>
          <a:bodyPr wrap="square" rtlCol="0" anchor="ctr"/>
          <a:lstStyle/>
          <a:p>
            <a:pPr indent="0" marL="0">
              <a:buNone/>
            </a:pPr>
            <a:r>
              <a:rPr lang="en-US" sz="2700" b="1" dirty="0">
                <a:solidFill>
                  <a:srgbClr val="1E2A24"/>
                </a:solidFill>
                <a:latin typeface="Century Schoolbook" pitchFamily="34" charset="0"/>
                <a:ea typeface="Century Schoolbook" pitchFamily="34" charset="-122"/>
                <a:cs typeface="Century Schoolbook" pitchFamily="34" charset="-120"/>
              </a:rPr>
              <a:t>Two challenges facing Daikibo Industrials</a:t>
            </a:r>
            <a:endParaRPr lang="en-US" sz="2700" dirty="0"/>
          </a:p>
        </p:txBody>
      </p:sp>
      <p:sp>
        <p:nvSpPr>
          <p:cNvPr id="5" name="Shape 3"/>
          <p:cNvSpPr/>
          <p:nvPr/>
        </p:nvSpPr>
        <p:spPr>
          <a:xfrm>
            <a:off x="640080" y="1874520"/>
            <a:ext cx="10881360" cy="1554480"/>
          </a:xfrm>
          <a:prstGeom prst="roundRect">
            <a:avLst>
              <a:gd name="adj" fmla="val 4706"/>
            </a:avLst>
          </a:prstGeom>
          <a:solidFill>
            <a:srgbClr val="FFFFFF"/>
          </a:solidFill>
          <a:ln/>
        </p:spPr>
      </p:sp>
      <p:sp>
        <p:nvSpPr>
          <p:cNvPr id="6" name="Text 4"/>
          <p:cNvSpPr/>
          <p:nvPr/>
        </p:nvSpPr>
        <p:spPr>
          <a:xfrm>
            <a:off x="914400" y="2148840"/>
            <a:ext cx="1005840" cy="1005840"/>
          </a:xfrm>
          <a:prstGeom prst="rect">
            <a:avLst/>
          </a:prstGeom>
          <a:noFill/>
          <a:ln/>
        </p:spPr>
        <p:txBody>
          <a:bodyPr wrap="square" rtlCol="0" anchor="ctr"/>
          <a:lstStyle/>
          <a:p>
            <a:pPr indent="0" marL="0">
              <a:buNone/>
            </a:pPr>
            <a:r>
              <a:rPr lang="en-US" sz="3400" b="1" dirty="0">
                <a:solidFill>
                  <a:srgbClr val="8BC34A"/>
                </a:solidFill>
                <a:latin typeface="Century Schoolbook" pitchFamily="34" charset="0"/>
                <a:ea typeface="Century Schoolbook" pitchFamily="34" charset="-122"/>
                <a:cs typeface="Century Schoolbook" pitchFamily="34" charset="-120"/>
              </a:rPr>
              <a:t>01</a:t>
            </a:r>
            <a:endParaRPr lang="en-US" sz="3400" dirty="0"/>
          </a:p>
        </p:txBody>
      </p:sp>
      <p:sp>
        <p:nvSpPr>
          <p:cNvPr id="7" name="Text 5"/>
          <p:cNvSpPr/>
          <p:nvPr/>
        </p:nvSpPr>
        <p:spPr>
          <a:xfrm>
            <a:off x="2103120" y="2075688"/>
            <a:ext cx="3566160" cy="1097280"/>
          </a:xfrm>
          <a:prstGeom prst="rect">
            <a:avLst/>
          </a:prstGeom>
          <a:noFill/>
          <a:ln/>
        </p:spPr>
        <p:txBody>
          <a:bodyPr wrap="square" rtlCol="0" anchor="ctr"/>
          <a:lstStyle/>
          <a:p>
            <a:pPr indent="0" marL="0">
              <a:buNone/>
            </a:pPr>
            <a:r>
              <a:rPr lang="en-US" sz="1600" b="1" dirty="0">
                <a:solidFill>
                  <a:srgbClr val="1E2A24"/>
                </a:solidFill>
                <a:latin typeface="Century Schoolbook" pitchFamily="34" charset="0"/>
                <a:ea typeface="Century Schoolbook" pitchFamily="34" charset="-122"/>
                <a:cs typeface="Century Schoolbook" pitchFamily="34" charset="-120"/>
              </a:rPr>
              <a:t>Unplanned Machine Downtime</a:t>
            </a:r>
            <a:endParaRPr lang="en-US" sz="1600" dirty="0"/>
          </a:p>
        </p:txBody>
      </p:sp>
      <p:sp>
        <p:nvSpPr>
          <p:cNvPr id="8" name="Text 6"/>
          <p:cNvSpPr/>
          <p:nvPr/>
        </p:nvSpPr>
        <p:spPr>
          <a:xfrm>
            <a:off x="5852160" y="2039112"/>
            <a:ext cx="5394960" cy="1188720"/>
          </a:xfrm>
          <a:prstGeom prst="rect">
            <a:avLst/>
          </a:prstGeom>
          <a:noFill/>
          <a:ln/>
        </p:spPr>
        <p:txBody>
          <a:bodyPr wrap="square" rtlCol="0" anchor="ctr"/>
          <a:lstStyle/>
          <a:p>
            <a:pPr indent="0" marL="0">
              <a:lnSpc>
                <a:spcPct val="125000"/>
              </a:lnSpc>
              <a:buNone/>
            </a:pPr>
            <a:r>
              <a:rPr lang="en-US" sz="1200" dirty="0">
                <a:solidFill>
                  <a:srgbClr val="6B7970"/>
                </a:solidFill>
                <a:latin typeface="Calibri" pitchFamily="34" charset="0"/>
                <a:ea typeface="Calibri" pitchFamily="34" charset="-122"/>
                <a:cs typeface="Calibri" pitchFamily="34" charset="-120"/>
              </a:rPr>
              <a:t>Telemetry data from four factories showed recurring downtime, but no consolidated view of which factories and device types were most affected — making maintenance prioritization difficult.</a:t>
            </a:r>
            <a:endParaRPr lang="en-US" sz="1200" dirty="0"/>
          </a:p>
        </p:txBody>
      </p:sp>
      <p:sp>
        <p:nvSpPr>
          <p:cNvPr id="9" name="Shape 7"/>
          <p:cNvSpPr/>
          <p:nvPr/>
        </p:nvSpPr>
        <p:spPr>
          <a:xfrm>
            <a:off x="640080" y="3657600"/>
            <a:ext cx="10881360" cy="1554480"/>
          </a:xfrm>
          <a:prstGeom prst="roundRect">
            <a:avLst>
              <a:gd name="adj" fmla="val 4706"/>
            </a:avLst>
          </a:prstGeom>
          <a:solidFill>
            <a:srgbClr val="FFFFFF"/>
          </a:solidFill>
          <a:ln/>
        </p:spPr>
      </p:sp>
      <p:sp>
        <p:nvSpPr>
          <p:cNvPr id="10" name="Text 8"/>
          <p:cNvSpPr/>
          <p:nvPr/>
        </p:nvSpPr>
        <p:spPr>
          <a:xfrm>
            <a:off x="914400" y="3931920"/>
            <a:ext cx="1005840" cy="1005840"/>
          </a:xfrm>
          <a:prstGeom prst="rect">
            <a:avLst/>
          </a:prstGeom>
          <a:noFill/>
          <a:ln/>
        </p:spPr>
        <p:txBody>
          <a:bodyPr wrap="square" rtlCol="0" anchor="ctr"/>
          <a:lstStyle/>
          <a:p>
            <a:pPr indent="0" marL="0">
              <a:buNone/>
            </a:pPr>
            <a:r>
              <a:rPr lang="en-US" sz="3400" b="1" dirty="0">
                <a:solidFill>
                  <a:srgbClr val="8BC34A"/>
                </a:solidFill>
                <a:latin typeface="Century Schoolbook" pitchFamily="34" charset="0"/>
                <a:ea typeface="Century Schoolbook" pitchFamily="34" charset="-122"/>
                <a:cs typeface="Century Schoolbook" pitchFamily="34" charset="-120"/>
              </a:rPr>
              <a:t>02</a:t>
            </a:r>
            <a:endParaRPr lang="en-US" sz="3400" dirty="0"/>
          </a:p>
        </p:txBody>
      </p:sp>
      <p:sp>
        <p:nvSpPr>
          <p:cNvPr id="11" name="Text 9"/>
          <p:cNvSpPr/>
          <p:nvPr/>
        </p:nvSpPr>
        <p:spPr>
          <a:xfrm>
            <a:off x="2103120" y="3858768"/>
            <a:ext cx="3566160" cy="1097280"/>
          </a:xfrm>
          <a:prstGeom prst="rect">
            <a:avLst/>
          </a:prstGeom>
          <a:noFill/>
          <a:ln/>
        </p:spPr>
        <p:txBody>
          <a:bodyPr wrap="square" rtlCol="0" anchor="ctr"/>
          <a:lstStyle/>
          <a:p>
            <a:pPr indent="0" marL="0">
              <a:buNone/>
            </a:pPr>
            <a:r>
              <a:rPr lang="en-US" sz="1600" b="1" dirty="0">
                <a:solidFill>
                  <a:srgbClr val="1E2A24"/>
                </a:solidFill>
                <a:latin typeface="Century Schoolbook" pitchFamily="34" charset="0"/>
                <a:ea typeface="Century Schoolbook" pitchFamily="34" charset="-122"/>
                <a:cs typeface="Century Schoolbook" pitchFamily="34" charset="-120"/>
              </a:rPr>
              <a:t>Pay Equity Uncertainty</a:t>
            </a:r>
            <a:endParaRPr lang="en-US" sz="1600" dirty="0"/>
          </a:p>
        </p:txBody>
      </p:sp>
      <p:sp>
        <p:nvSpPr>
          <p:cNvPr id="12" name="Text 10"/>
          <p:cNvSpPr/>
          <p:nvPr/>
        </p:nvSpPr>
        <p:spPr>
          <a:xfrm>
            <a:off x="5852160" y="3822192"/>
            <a:ext cx="5394960" cy="1188720"/>
          </a:xfrm>
          <a:prstGeom prst="rect">
            <a:avLst/>
          </a:prstGeom>
          <a:noFill/>
          <a:ln/>
        </p:spPr>
        <p:txBody>
          <a:bodyPr wrap="square" rtlCol="0" anchor="ctr"/>
          <a:lstStyle/>
          <a:p>
            <a:pPr indent="0" marL="0">
              <a:lnSpc>
                <a:spcPct val="125000"/>
              </a:lnSpc>
              <a:buNone/>
            </a:pPr>
            <a:r>
              <a:rPr lang="en-US" sz="1200" dirty="0">
                <a:solidFill>
                  <a:srgbClr val="6B7970"/>
                </a:solidFill>
                <a:latin typeface="Calibri" pitchFamily="34" charset="0"/>
                <a:ea typeface="Calibri" pitchFamily="34" charset="-122"/>
                <a:cs typeface="Calibri" pitchFamily="34" charset="-120"/>
              </a:rPr>
              <a:t>The company needed an internal payroll audit to assess whether pay was distributed equitably across gender lines, to flag compliance risk and support fair practices.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B2F"/>
        </a:solidFill>
      </p:bgPr>
    </p:bg>
    <p:spTree>
      <p:nvGrpSpPr>
        <p:cNvPr id="1" name=""/>
        <p:cNvGrpSpPr/>
        <p:nvPr/>
      </p:nvGrpSpPr>
      <p:grpSpPr>
        <a:xfrm>
          <a:off x="0" y="0"/>
          <a:ext cx="0" cy="0"/>
          <a:chOff x="0" y="0"/>
          <a:chExt cx="0" cy="0"/>
        </a:xfrm>
      </p:grpSpPr>
      <p:sp>
        <p:nvSpPr>
          <p:cNvPr id="2" name="Text 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6B7970"/>
                </a:solidFill>
                <a:latin typeface="Calibri" pitchFamily="34" charset="0"/>
                <a:ea typeface="Calibri" pitchFamily="34" charset="-122"/>
                <a:cs typeface="Calibri" pitchFamily="34" charset="-120"/>
              </a:rPr>
              <a:t>05</a:t>
            </a:r>
            <a:endParaRPr lang="en-US" sz="1000" dirty="0"/>
          </a:p>
        </p:txBody>
      </p:sp>
      <p:sp>
        <p:nvSpPr>
          <p:cNvPr id="3" name="Text 1"/>
          <p:cNvSpPr/>
          <p:nvPr/>
        </p:nvSpPr>
        <p:spPr>
          <a:xfrm>
            <a:off x="640080" y="548640"/>
            <a:ext cx="5486400" cy="320040"/>
          </a:xfrm>
          <a:prstGeom prst="rect">
            <a:avLst/>
          </a:prstGeom>
          <a:noFill/>
          <a:ln/>
        </p:spPr>
        <p:txBody>
          <a:bodyPr wrap="square" rtlCol="0" anchor="ctr"/>
          <a:lstStyle/>
          <a:p>
            <a:pPr indent="0" marL="0">
              <a:buNone/>
            </a:pPr>
            <a:r>
              <a:rPr lang="en-US" sz="1200" b="1" spc="200" kern="0" dirty="0">
                <a:solidFill>
                  <a:srgbClr val="8BC34A"/>
                </a:solidFill>
                <a:latin typeface="Calibri" pitchFamily="34" charset="0"/>
                <a:ea typeface="Calibri" pitchFamily="34" charset="-122"/>
                <a:cs typeface="Calibri" pitchFamily="34" charset="-120"/>
              </a:rPr>
              <a:t>PROJECT OBJECTIVES</a:t>
            </a:r>
            <a:endParaRPr lang="en-US" sz="1200" dirty="0"/>
          </a:p>
        </p:txBody>
      </p:sp>
      <p:sp>
        <p:nvSpPr>
          <p:cNvPr id="4" name="Text 2"/>
          <p:cNvSpPr/>
          <p:nvPr/>
        </p:nvSpPr>
        <p:spPr>
          <a:xfrm>
            <a:off x="640080" y="868680"/>
            <a:ext cx="9601200" cy="640080"/>
          </a:xfrm>
          <a:prstGeom prst="rect">
            <a:avLst/>
          </a:prstGeom>
          <a:noFill/>
          <a:ln/>
        </p:spPr>
        <p:txBody>
          <a:bodyPr wrap="square" rtlCol="0" anchor="ctr"/>
          <a:lstStyle/>
          <a:p>
            <a:pPr indent="0" marL="0">
              <a:buNone/>
            </a:pPr>
            <a:r>
              <a:rPr lang="en-US" sz="2700" b="1" dirty="0">
                <a:solidFill>
                  <a:srgbClr val="FFFFFF"/>
                </a:solidFill>
                <a:latin typeface="Century Schoolbook" pitchFamily="34" charset="0"/>
                <a:ea typeface="Century Schoolbook" pitchFamily="34" charset="-122"/>
                <a:cs typeface="Century Schoolbook" pitchFamily="34" charset="-120"/>
              </a:rPr>
              <a:t>What the simulation set out to achieve</a:t>
            </a:r>
            <a:endParaRPr lang="en-US" sz="2700" dirty="0"/>
          </a:p>
        </p:txBody>
      </p:sp>
      <p:sp>
        <p:nvSpPr>
          <p:cNvPr id="5" name="Shape 3"/>
          <p:cNvSpPr/>
          <p:nvPr/>
        </p:nvSpPr>
        <p:spPr>
          <a:xfrm>
            <a:off x="640080" y="1874520"/>
            <a:ext cx="10881360" cy="658368"/>
          </a:xfrm>
          <a:prstGeom prst="roundRect">
            <a:avLst>
              <a:gd name="adj" fmla="val 9722"/>
            </a:avLst>
          </a:prstGeom>
          <a:solidFill>
            <a:srgbClr val="10241C"/>
          </a:solidFill>
          <a:ln/>
        </p:spPr>
      </p:sp>
      <p:sp>
        <p:nvSpPr>
          <p:cNvPr id="6" name="Text 4"/>
          <p:cNvSpPr/>
          <p:nvPr/>
        </p:nvSpPr>
        <p:spPr>
          <a:xfrm>
            <a:off x="868680" y="1874520"/>
            <a:ext cx="731520" cy="658368"/>
          </a:xfrm>
          <a:prstGeom prst="rect">
            <a:avLst/>
          </a:prstGeom>
          <a:noFill/>
          <a:ln/>
        </p:spPr>
        <p:txBody>
          <a:bodyPr wrap="square" rtlCol="0" anchor="ctr"/>
          <a:lstStyle/>
          <a:p>
            <a:pPr indent="0" marL="0">
              <a:buNone/>
            </a:pPr>
            <a:r>
              <a:rPr lang="en-US" sz="1700" b="1" dirty="0">
                <a:solidFill>
                  <a:srgbClr val="8BC34A"/>
                </a:solidFill>
                <a:latin typeface="Century Schoolbook" pitchFamily="34" charset="0"/>
                <a:ea typeface="Century Schoolbook" pitchFamily="34" charset="-122"/>
                <a:cs typeface="Century Schoolbook" pitchFamily="34" charset="-120"/>
              </a:rPr>
              <a:t>01</a:t>
            </a:r>
            <a:endParaRPr lang="en-US" sz="1700" dirty="0"/>
          </a:p>
        </p:txBody>
      </p:sp>
      <p:sp>
        <p:nvSpPr>
          <p:cNvPr id="7" name="Text 5"/>
          <p:cNvSpPr/>
          <p:nvPr/>
        </p:nvSpPr>
        <p:spPr>
          <a:xfrm>
            <a:off x="1691640" y="1874520"/>
            <a:ext cx="9509760" cy="65836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Analyze telemetry data from four factories to identify downtime patterns</a:t>
            </a:r>
            <a:endParaRPr lang="en-US" sz="1350" dirty="0"/>
          </a:p>
        </p:txBody>
      </p:sp>
      <p:sp>
        <p:nvSpPr>
          <p:cNvPr id="8" name="Shape 6"/>
          <p:cNvSpPr/>
          <p:nvPr/>
        </p:nvSpPr>
        <p:spPr>
          <a:xfrm>
            <a:off x="640080" y="2715768"/>
            <a:ext cx="10881360" cy="658368"/>
          </a:xfrm>
          <a:prstGeom prst="roundRect">
            <a:avLst>
              <a:gd name="adj" fmla="val 9722"/>
            </a:avLst>
          </a:prstGeom>
          <a:solidFill>
            <a:srgbClr val="10241C"/>
          </a:solidFill>
          <a:ln/>
        </p:spPr>
      </p:sp>
      <p:sp>
        <p:nvSpPr>
          <p:cNvPr id="9" name="Text 7"/>
          <p:cNvSpPr/>
          <p:nvPr/>
        </p:nvSpPr>
        <p:spPr>
          <a:xfrm>
            <a:off x="868680" y="2715768"/>
            <a:ext cx="731520" cy="658368"/>
          </a:xfrm>
          <a:prstGeom prst="rect">
            <a:avLst/>
          </a:prstGeom>
          <a:noFill/>
          <a:ln/>
        </p:spPr>
        <p:txBody>
          <a:bodyPr wrap="square" rtlCol="0" anchor="ctr"/>
          <a:lstStyle/>
          <a:p>
            <a:pPr indent="0" marL="0">
              <a:buNone/>
            </a:pPr>
            <a:r>
              <a:rPr lang="en-US" sz="1700" b="1" dirty="0">
                <a:solidFill>
                  <a:srgbClr val="8BC34A"/>
                </a:solidFill>
                <a:latin typeface="Century Schoolbook" pitchFamily="34" charset="0"/>
                <a:ea typeface="Century Schoolbook" pitchFamily="34" charset="-122"/>
                <a:cs typeface="Century Schoolbook" pitchFamily="34" charset="-120"/>
              </a:rPr>
              <a:t>02</a:t>
            </a:r>
            <a:endParaRPr lang="en-US" sz="1700" dirty="0"/>
          </a:p>
        </p:txBody>
      </p:sp>
      <p:sp>
        <p:nvSpPr>
          <p:cNvPr id="10" name="Text 8"/>
          <p:cNvSpPr/>
          <p:nvPr/>
        </p:nvSpPr>
        <p:spPr>
          <a:xfrm>
            <a:off x="1691640" y="2715768"/>
            <a:ext cx="9509760" cy="65836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Design an interactive Tableau dashboard for downtime trends</a:t>
            </a:r>
            <a:endParaRPr lang="en-US" sz="1350" dirty="0"/>
          </a:p>
        </p:txBody>
      </p:sp>
      <p:sp>
        <p:nvSpPr>
          <p:cNvPr id="11" name="Shape 9"/>
          <p:cNvSpPr/>
          <p:nvPr/>
        </p:nvSpPr>
        <p:spPr>
          <a:xfrm>
            <a:off x="640080" y="3557016"/>
            <a:ext cx="10881360" cy="658368"/>
          </a:xfrm>
          <a:prstGeom prst="roundRect">
            <a:avLst>
              <a:gd name="adj" fmla="val 9722"/>
            </a:avLst>
          </a:prstGeom>
          <a:solidFill>
            <a:srgbClr val="10241C"/>
          </a:solidFill>
          <a:ln/>
        </p:spPr>
      </p:sp>
      <p:sp>
        <p:nvSpPr>
          <p:cNvPr id="12" name="Text 10"/>
          <p:cNvSpPr/>
          <p:nvPr/>
        </p:nvSpPr>
        <p:spPr>
          <a:xfrm>
            <a:off x="868680" y="3557016"/>
            <a:ext cx="731520" cy="658368"/>
          </a:xfrm>
          <a:prstGeom prst="rect">
            <a:avLst/>
          </a:prstGeom>
          <a:noFill/>
          <a:ln/>
        </p:spPr>
        <p:txBody>
          <a:bodyPr wrap="square" rtlCol="0" anchor="ctr"/>
          <a:lstStyle/>
          <a:p>
            <a:pPr indent="0" marL="0">
              <a:buNone/>
            </a:pPr>
            <a:r>
              <a:rPr lang="en-US" sz="1700" b="1" dirty="0">
                <a:solidFill>
                  <a:srgbClr val="8BC34A"/>
                </a:solidFill>
                <a:latin typeface="Century Schoolbook" pitchFamily="34" charset="0"/>
                <a:ea typeface="Century Schoolbook" pitchFamily="34" charset="-122"/>
                <a:cs typeface="Century Schoolbook" pitchFamily="34" charset="-120"/>
              </a:rPr>
              <a:t>03</a:t>
            </a:r>
            <a:endParaRPr lang="en-US" sz="1700" dirty="0"/>
          </a:p>
        </p:txBody>
      </p:sp>
      <p:sp>
        <p:nvSpPr>
          <p:cNvPr id="13" name="Text 11"/>
          <p:cNvSpPr/>
          <p:nvPr/>
        </p:nvSpPr>
        <p:spPr>
          <a:xfrm>
            <a:off x="1691640" y="3557016"/>
            <a:ext cx="9509760" cy="65836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Clean and process raw payroll data using Microsoft Excel</a:t>
            </a:r>
            <a:endParaRPr lang="en-US" sz="1350" dirty="0"/>
          </a:p>
        </p:txBody>
      </p:sp>
      <p:sp>
        <p:nvSpPr>
          <p:cNvPr id="14" name="Shape 12"/>
          <p:cNvSpPr/>
          <p:nvPr/>
        </p:nvSpPr>
        <p:spPr>
          <a:xfrm>
            <a:off x="640080" y="4398264"/>
            <a:ext cx="10881360" cy="658368"/>
          </a:xfrm>
          <a:prstGeom prst="roundRect">
            <a:avLst>
              <a:gd name="adj" fmla="val 9722"/>
            </a:avLst>
          </a:prstGeom>
          <a:solidFill>
            <a:srgbClr val="10241C"/>
          </a:solidFill>
          <a:ln/>
        </p:spPr>
      </p:sp>
      <p:sp>
        <p:nvSpPr>
          <p:cNvPr id="15" name="Text 13"/>
          <p:cNvSpPr/>
          <p:nvPr/>
        </p:nvSpPr>
        <p:spPr>
          <a:xfrm>
            <a:off x="868680" y="4398264"/>
            <a:ext cx="731520" cy="658368"/>
          </a:xfrm>
          <a:prstGeom prst="rect">
            <a:avLst/>
          </a:prstGeom>
          <a:noFill/>
          <a:ln/>
        </p:spPr>
        <p:txBody>
          <a:bodyPr wrap="square" rtlCol="0" anchor="ctr"/>
          <a:lstStyle/>
          <a:p>
            <a:pPr indent="0" marL="0">
              <a:buNone/>
            </a:pPr>
            <a:r>
              <a:rPr lang="en-US" sz="1700" b="1" dirty="0">
                <a:solidFill>
                  <a:srgbClr val="8BC34A"/>
                </a:solidFill>
                <a:latin typeface="Century Schoolbook" pitchFamily="34" charset="0"/>
                <a:ea typeface="Century Schoolbook" pitchFamily="34" charset="-122"/>
                <a:cs typeface="Century Schoolbook" pitchFamily="34" charset="-120"/>
              </a:rPr>
              <a:t>04</a:t>
            </a:r>
            <a:endParaRPr lang="en-US" sz="1700" dirty="0"/>
          </a:p>
        </p:txBody>
      </p:sp>
      <p:sp>
        <p:nvSpPr>
          <p:cNvPr id="16" name="Text 14"/>
          <p:cNvSpPr/>
          <p:nvPr/>
        </p:nvSpPr>
        <p:spPr>
          <a:xfrm>
            <a:off x="1691640" y="4398264"/>
            <a:ext cx="9509760" cy="65836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Apply logical functions to evaluate gender pay equity</a:t>
            </a:r>
            <a:endParaRPr lang="en-US" sz="1350" dirty="0"/>
          </a:p>
        </p:txBody>
      </p:sp>
      <p:sp>
        <p:nvSpPr>
          <p:cNvPr id="17" name="Shape 15"/>
          <p:cNvSpPr/>
          <p:nvPr/>
        </p:nvSpPr>
        <p:spPr>
          <a:xfrm>
            <a:off x="640080" y="5239512"/>
            <a:ext cx="10881360" cy="658368"/>
          </a:xfrm>
          <a:prstGeom prst="roundRect">
            <a:avLst>
              <a:gd name="adj" fmla="val 9722"/>
            </a:avLst>
          </a:prstGeom>
          <a:solidFill>
            <a:srgbClr val="10241C"/>
          </a:solidFill>
          <a:ln/>
        </p:spPr>
      </p:sp>
      <p:sp>
        <p:nvSpPr>
          <p:cNvPr id="18" name="Text 16"/>
          <p:cNvSpPr/>
          <p:nvPr/>
        </p:nvSpPr>
        <p:spPr>
          <a:xfrm>
            <a:off x="868680" y="5239512"/>
            <a:ext cx="731520" cy="658368"/>
          </a:xfrm>
          <a:prstGeom prst="rect">
            <a:avLst/>
          </a:prstGeom>
          <a:noFill/>
          <a:ln/>
        </p:spPr>
        <p:txBody>
          <a:bodyPr wrap="square" rtlCol="0" anchor="ctr"/>
          <a:lstStyle/>
          <a:p>
            <a:pPr indent="0" marL="0">
              <a:buNone/>
            </a:pPr>
            <a:r>
              <a:rPr lang="en-US" sz="1700" b="1" dirty="0">
                <a:solidFill>
                  <a:srgbClr val="8BC34A"/>
                </a:solidFill>
                <a:latin typeface="Century Schoolbook" pitchFamily="34" charset="0"/>
                <a:ea typeface="Century Schoolbook" pitchFamily="34" charset="-122"/>
                <a:cs typeface="Century Schoolbook" pitchFamily="34" charset="-120"/>
              </a:rPr>
              <a:t>05</a:t>
            </a:r>
            <a:endParaRPr lang="en-US" sz="1700" dirty="0"/>
          </a:p>
        </p:txBody>
      </p:sp>
      <p:sp>
        <p:nvSpPr>
          <p:cNvPr id="19" name="Text 17"/>
          <p:cNvSpPr/>
          <p:nvPr/>
        </p:nvSpPr>
        <p:spPr>
          <a:xfrm>
            <a:off x="1691640" y="5239512"/>
            <a:ext cx="9509760" cy="65836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Translate technical findings into clear business recommendations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6B7970"/>
                </a:solidFill>
                <a:latin typeface="Calibri" pitchFamily="34" charset="0"/>
                <a:ea typeface="Calibri" pitchFamily="34" charset="-122"/>
                <a:cs typeface="Calibri" pitchFamily="34" charset="-120"/>
              </a:rPr>
              <a:t>06</a:t>
            </a:r>
            <a:endParaRPr lang="en-US" sz="1000" dirty="0"/>
          </a:p>
        </p:txBody>
      </p:sp>
      <p:sp>
        <p:nvSpPr>
          <p:cNvPr id="3" name="Text 1"/>
          <p:cNvSpPr/>
          <p:nvPr/>
        </p:nvSpPr>
        <p:spPr>
          <a:xfrm>
            <a:off x="640080" y="548640"/>
            <a:ext cx="5486400" cy="320040"/>
          </a:xfrm>
          <a:prstGeom prst="rect">
            <a:avLst/>
          </a:prstGeom>
          <a:noFill/>
          <a:ln/>
        </p:spPr>
        <p:txBody>
          <a:bodyPr wrap="square" rtlCol="0" anchor="ctr"/>
          <a:lstStyle/>
          <a:p>
            <a:pPr indent="0" marL="0">
              <a:buNone/>
            </a:pPr>
            <a:r>
              <a:rPr lang="en-US" sz="1200" b="1" spc="200" kern="0" dirty="0">
                <a:solidFill>
                  <a:srgbClr val="1B3B2F"/>
                </a:solidFill>
                <a:latin typeface="Calibri" pitchFamily="34" charset="0"/>
                <a:ea typeface="Calibri" pitchFamily="34" charset="-122"/>
                <a:cs typeface="Calibri" pitchFamily="34" charset="-120"/>
              </a:rPr>
              <a:t>SCOPE OF THE PROJECT</a:t>
            </a:r>
            <a:endParaRPr lang="en-US" sz="1200" dirty="0"/>
          </a:p>
        </p:txBody>
      </p:sp>
      <p:sp>
        <p:nvSpPr>
          <p:cNvPr id="4" name="Text 2"/>
          <p:cNvSpPr/>
          <p:nvPr/>
        </p:nvSpPr>
        <p:spPr>
          <a:xfrm>
            <a:off x="640080" y="868680"/>
            <a:ext cx="9601200" cy="640080"/>
          </a:xfrm>
          <a:prstGeom prst="rect">
            <a:avLst/>
          </a:prstGeom>
          <a:noFill/>
          <a:ln/>
        </p:spPr>
        <p:txBody>
          <a:bodyPr wrap="square" rtlCol="0" anchor="ctr"/>
          <a:lstStyle/>
          <a:p>
            <a:pPr indent="0" marL="0">
              <a:buNone/>
            </a:pPr>
            <a:r>
              <a:rPr lang="en-US" sz="2800" b="1" dirty="0">
                <a:solidFill>
                  <a:srgbClr val="1E2A24"/>
                </a:solidFill>
                <a:latin typeface="Century Schoolbook" pitchFamily="34" charset="0"/>
                <a:ea typeface="Century Schoolbook" pitchFamily="34" charset="-122"/>
                <a:cs typeface="Century Schoolbook" pitchFamily="34" charset="-120"/>
              </a:rPr>
              <a:t>Two structured, guided tasks</a:t>
            </a:r>
            <a:endParaRPr lang="en-US" sz="2800" dirty="0"/>
          </a:p>
        </p:txBody>
      </p:sp>
      <p:sp>
        <p:nvSpPr>
          <p:cNvPr id="5" name="Text 3"/>
          <p:cNvSpPr/>
          <p:nvPr/>
        </p:nvSpPr>
        <p:spPr>
          <a:xfrm>
            <a:off x="640080" y="1691640"/>
            <a:ext cx="10881360" cy="822960"/>
          </a:xfrm>
          <a:prstGeom prst="rect">
            <a:avLst/>
          </a:prstGeom>
          <a:noFill/>
          <a:ln/>
        </p:spPr>
        <p:txBody>
          <a:bodyPr wrap="square" rtlCol="0" anchor="ctr"/>
          <a:lstStyle/>
          <a:p>
            <a:pPr indent="0" marL="0">
              <a:lnSpc>
                <a:spcPct val="130000"/>
              </a:lnSpc>
              <a:buNone/>
            </a:pPr>
            <a:r>
              <a:rPr lang="en-US" sz="1400" dirty="0">
                <a:solidFill>
                  <a:srgbClr val="6B7970"/>
                </a:solidFill>
                <a:latin typeface="Calibri" pitchFamily="34" charset="0"/>
                <a:ea typeface="Calibri" pitchFamily="34" charset="-122"/>
                <a:cs typeface="Calibri" pitchFamily="34" charset="-120"/>
              </a:rPr>
              <a:t>The scope of this project was limited to the two structured tasks defined within the Deloitte Data Analytics Job Simulation on Forage — it did not involve live client interaction, real company data, or production deployment.</a:t>
            </a:r>
            <a:endParaRPr lang="en-US" sz="1400" dirty="0"/>
          </a:p>
        </p:txBody>
      </p:sp>
      <p:sp>
        <p:nvSpPr>
          <p:cNvPr id="6" name="Shape 4"/>
          <p:cNvSpPr/>
          <p:nvPr/>
        </p:nvSpPr>
        <p:spPr>
          <a:xfrm>
            <a:off x="640080" y="2743200"/>
            <a:ext cx="5212080" cy="2743200"/>
          </a:xfrm>
          <a:prstGeom prst="roundRect">
            <a:avLst>
              <a:gd name="adj" fmla="val 3333"/>
            </a:avLst>
          </a:prstGeom>
          <a:solidFill>
            <a:srgbClr val="F4F6F2"/>
          </a:solidFill>
          <a:ln/>
        </p:spPr>
      </p:sp>
      <p:sp>
        <p:nvSpPr>
          <p:cNvPr id="7" name="Shape 5"/>
          <p:cNvSpPr/>
          <p:nvPr/>
        </p:nvSpPr>
        <p:spPr>
          <a:xfrm>
            <a:off x="960120" y="3063240"/>
            <a:ext cx="457200" cy="457200"/>
          </a:xfrm>
          <a:prstGeom prst="roundRect">
            <a:avLst>
              <a:gd name="adj" fmla="val 20000"/>
            </a:avLst>
          </a:prstGeom>
          <a:solidFill>
            <a:srgbClr val="1B3B2F"/>
          </a:solidFill>
          <a:ln/>
        </p:spPr>
      </p:sp>
      <p:sp>
        <p:nvSpPr>
          <p:cNvPr id="8" name="Text 6"/>
          <p:cNvSpPr/>
          <p:nvPr/>
        </p:nvSpPr>
        <p:spPr>
          <a:xfrm>
            <a:off x="960120" y="3063240"/>
            <a:ext cx="457200" cy="457200"/>
          </a:xfrm>
          <a:prstGeom prst="rect">
            <a:avLst/>
          </a:prstGeom>
          <a:noFill/>
          <a:ln/>
        </p:spPr>
        <p:txBody>
          <a:bodyPr wrap="square" rtlCol="0" anchor="ctr"/>
          <a:lstStyle/>
          <a:p>
            <a:pPr algn="ctr" indent="0" marL="0">
              <a:buNone/>
            </a:pPr>
            <a:r>
              <a:rPr lang="en-US" sz="1600" b="1" dirty="0">
                <a:solidFill>
                  <a:srgbClr val="8BC34A"/>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960120" y="3703320"/>
            <a:ext cx="4572000" cy="457200"/>
          </a:xfrm>
          <a:prstGeom prst="rect">
            <a:avLst/>
          </a:prstGeom>
          <a:noFill/>
          <a:ln/>
        </p:spPr>
        <p:txBody>
          <a:bodyPr wrap="square" rtlCol="0" anchor="ctr"/>
          <a:lstStyle/>
          <a:p>
            <a:pPr indent="0" marL="0">
              <a:buNone/>
            </a:pPr>
            <a:r>
              <a:rPr lang="en-US" sz="1700" b="1" dirty="0">
                <a:solidFill>
                  <a:srgbClr val="1E2A24"/>
                </a:solidFill>
                <a:latin typeface="Century Schoolbook" pitchFamily="34" charset="0"/>
                <a:ea typeface="Century Schoolbook" pitchFamily="34" charset="-122"/>
                <a:cs typeface="Century Schoolbook" pitchFamily="34" charset="-120"/>
              </a:rPr>
              <a:t>Telemetry Analysis</a:t>
            </a:r>
            <a:endParaRPr lang="en-US" sz="1700" dirty="0"/>
          </a:p>
        </p:txBody>
      </p:sp>
      <p:sp>
        <p:nvSpPr>
          <p:cNvPr id="10" name="Text 8"/>
          <p:cNvSpPr/>
          <p:nvPr/>
        </p:nvSpPr>
        <p:spPr>
          <a:xfrm>
            <a:off x="960120" y="4206240"/>
            <a:ext cx="4572000" cy="1097280"/>
          </a:xfrm>
          <a:prstGeom prst="rect">
            <a:avLst/>
          </a:prstGeom>
          <a:noFill/>
          <a:ln/>
        </p:spPr>
        <p:txBody>
          <a:bodyPr wrap="square" rtlCol="0" anchor="ctr"/>
          <a:lstStyle/>
          <a:p>
            <a:pPr indent="0" marL="0">
              <a:lnSpc>
                <a:spcPct val="130000"/>
              </a:lnSpc>
              <a:buNone/>
            </a:pPr>
            <a:r>
              <a:rPr lang="en-US" sz="1250" dirty="0">
                <a:solidFill>
                  <a:srgbClr val="6B7970"/>
                </a:solidFill>
                <a:latin typeface="Calibri" pitchFamily="34" charset="0"/>
                <a:ea typeface="Calibri" pitchFamily="34" charset="-122"/>
                <a:cs typeface="Calibri" pitchFamily="34" charset="-120"/>
              </a:rPr>
              <a:t>A provided telemetry dataset (JSON format) analyzed in Tableau to build a downtime dashboard.</a:t>
            </a:r>
            <a:endParaRPr lang="en-US" sz="1250" dirty="0"/>
          </a:p>
        </p:txBody>
      </p:sp>
      <p:sp>
        <p:nvSpPr>
          <p:cNvPr id="11" name="Shape 9"/>
          <p:cNvSpPr/>
          <p:nvPr/>
        </p:nvSpPr>
        <p:spPr>
          <a:xfrm>
            <a:off x="6126480" y="2743200"/>
            <a:ext cx="5212080" cy="2743200"/>
          </a:xfrm>
          <a:prstGeom prst="roundRect">
            <a:avLst>
              <a:gd name="adj" fmla="val 3333"/>
            </a:avLst>
          </a:prstGeom>
          <a:solidFill>
            <a:srgbClr val="F4F6F2"/>
          </a:solidFill>
          <a:ln/>
        </p:spPr>
      </p:sp>
      <p:sp>
        <p:nvSpPr>
          <p:cNvPr id="12" name="Shape 10"/>
          <p:cNvSpPr/>
          <p:nvPr/>
        </p:nvSpPr>
        <p:spPr>
          <a:xfrm>
            <a:off x="6446520" y="3063240"/>
            <a:ext cx="457200" cy="457200"/>
          </a:xfrm>
          <a:prstGeom prst="roundRect">
            <a:avLst>
              <a:gd name="adj" fmla="val 20000"/>
            </a:avLst>
          </a:prstGeom>
          <a:solidFill>
            <a:srgbClr val="1B3B2F"/>
          </a:solidFill>
          <a:ln/>
        </p:spPr>
      </p:sp>
      <p:sp>
        <p:nvSpPr>
          <p:cNvPr id="13" name="Text 11"/>
          <p:cNvSpPr/>
          <p:nvPr/>
        </p:nvSpPr>
        <p:spPr>
          <a:xfrm>
            <a:off x="6446520" y="3063240"/>
            <a:ext cx="457200" cy="457200"/>
          </a:xfrm>
          <a:prstGeom prst="rect">
            <a:avLst/>
          </a:prstGeom>
          <a:noFill/>
          <a:ln/>
        </p:spPr>
        <p:txBody>
          <a:bodyPr wrap="square" rtlCol="0" anchor="ctr"/>
          <a:lstStyle/>
          <a:p>
            <a:pPr algn="ctr" indent="0" marL="0">
              <a:buNone/>
            </a:pPr>
            <a:r>
              <a:rPr lang="en-US" sz="1600" b="1" dirty="0">
                <a:solidFill>
                  <a:srgbClr val="8BC34A"/>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6446520" y="3703320"/>
            <a:ext cx="4572000" cy="457200"/>
          </a:xfrm>
          <a:prstGeom prst="rect">
            <a:avLst/>
          </a:prstGeom>
          <a:noFill/>
          <a:ln/>
        </p:spPr>
        <p:txBody>
          <a:bodyPr wrap="square" rtlCol="0" anchor="ctr"/>
          <a:lstStyle/>
          <a:p>
            <a:pPr indent="0" marL="0">
              <a:buNone/>
            </a:pPr>
            <a:r>
              <a:rPr lang="en-US" sz="1700" b="1" dirty="0">
                <a:solidFill>
                  <a:srgbClr val="1E2A24"/>
                </a:solidFill>
                <a:latin typeface="Century Schoolbook" pitchFamily="34" charset="0"/>
                <a:ea typeface="Century Schoolbook" pitchFamily="34" charset="-122"/>
                <a:cs typeface="Century Schoolbook" pitchFamily="34" charset="-120"/>
              </a:rPr>
              <a:t>Payroll Equity Analysis</a:t>
            </a:r>
            <a:endParaRPr lang="en-US" sz="1700" dirty="0"/>
          </a:p>
        </p:txBody>
      </p:sp>
      <p:sp>
        <p:nvSpPr>
          <p:cNvPr id="15" name="Text 13"/>
          <p:cNvSpPr/>
          <p:nvPr/>
        </p:nvSpPr>
        <p:spPr>
          <a:xfrm>
            <a:off x="6446520" y="4206240"/>
            <a:ext cx="4572000" cy="1097280"/>
          </a:xfrm>
          <a:prstGeom prst="rect">
            <a:avLst/>
          </a:prstGeom>
          <a:noFill/>
          <a:ln/>
        </p:spPr>
        <p:txBody>
          <a:bodyPr wrap="square" rtlCol="0" anchor="ctr"/>
          <a:lstStyle/>
          <a:p>
            <a:pPr indent="0" marL="0">
              <a:lnSpc>
                <a:spcPct val="130000"/>
              </a:lnSpc>
              <a:buNone/>
            </a:pPr>
            <a:r>
              <a:rPr lang="en-US" sz="1250" dirty="0">
                <a:solidFill>
                  <a:srgbClr val="6B7970"/>
                </a:solidFill>
                <a:latin typeface="Calibri" pitchFamily="34" charset="0"/>
                <a:ea typeface="Calibri" pitchFamily="34" charset="-122"/>
                <a:cs typeface="Calibri" pitchFamily="34" charset="-120"/>
              </a:rPr>
              <a:t>A provided payroll dataset analyzed in Excel to assess pay equity across the organization.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6B7970"/>
                </a:solidFill>
                <a:latin typeface="Calibri" pitchFamily="34" charset="0"/>
                <a:ea typeface="Calibri" pitchFamily="34" charset="-122"/>
                <a:cs typeface="Calibri" pitchFamily="34" charset="-120"/>
              </a:rPr>
              <a:t>07</a:t>
            </a:r>
            <a:endParaRPr lang="en-US" sz="1000" dirty="0"/>
          </a:p>
        </p:txBody>
      </p:sp>
      <p:sp>
        <p:nvSpPr>
          <p:cNvPr id="3" name="Text 1"/>
          <p:cNvSpPr/>
          <p:nvPr/>
        </p:nvSpPr>
        <p:spPr>
          <a:xfrm>
            <a:off x="640080" y="548640"/>
            <a:ext cx="5486400" cy="320040"/>
          </a:xfrm>
          <a:prstGeom prst="rect">
            <a:avLst/>
          </a:prstGeom>
          <a:noFill/>
          <a:ln/>
        </p:spPr>
        <p:txBody>
          <a:bodyPr wrap="square" rtlCol="0" anchor="ctr"/>
          <a:lstStyle/>
          <a:p>
            <a:pPr indent="0" marL="0">
              <a:buNone/>
            </a:pPr>
            <a:r>
              <a:rPr lang="en-US" sz="1200" b="1" spc="200" kern="0" dirty="0">
                <a:solidFill>
                  <a:srgbClr val="1B3B2F"/>
                </a:solidFill>
                <a:latin typeface="Calibri" pitchFamily="34" charset="0"/>
                <a:ea typeface="Calibri" pitchFamily="34" charset="-122"/>
                <a:cs typeface="Calibri" pitchFamily="34" charset="-120"/>
              </a:rPr>
              <a:t>TECHNOLOGIES &amp; TOOLS</a:t>
            </a:r>
            <a:endParaRPr lang="en-US" sz="1200" dirty="0"/>
          </a:p>
        </p:txBody>
      </p:sp>
      <p:sp>
        <p:nvSpPr>
          <p:cNvPr id="4" name="Text 2"/>
          <p:cNvSpPr/>
          <p:nvPr/>
        </p:nvSpPr>
        <p:spPr>
          <a:xfrm>
            <a:off x="640080" y="868680"/>
            <a:ext cx="9601200" cy="640080"/>
          </a:xfrm>
          <a:prstGeom prst="rect">
            <a:avLst/>
          </a:prstGeom>
          <a:noFill/>
          <a:ln/>
        </p:spPr>
        <p:txBody>
          <a:bodyPr wrap="square" rtlCol="0" anchor="ctr"/>
          <a:lstStyle/>
          <a:p>
            <a:pPr indent="0" marL="0">
              <a:buNone/>
            </a:pPr>
            <a:r>
              <a:rPr lang="en-US" sz="2800" b="1" dirty="0">
                <a:solidFill>
                  <a:srgbClr val="1E2A24"/>
                </a:solidFill>
                <a:latin typeface="Century Schoolbook" pitchFamily="34" charset="0"/>
                <a:ea typeface="Century Schoolbook" pitchFamily="34" charset="-122"/>
                <a:cs typeface="Century Schoolbook" pitchFamily="34" charset="-120"/>
              </a:rPr>
              <a:t>The analytics toolkit</a:t>
            </a:r>
            <a:endParaRPr lang="en-US" sz="2800" dirty="0"/>
          </a:p>
        </p:txBody>
      </p:sp>
      <p:sp>
        <p:nvSpPr>
          <p:cNvPr id="5" name="Shape 3"/>
          <p:cNvSpPr/>
          <p:nvPr/>
        </p:nvSpPr>
        <p:spPr>
          <a:xfrm>
            <a:off x="640080" y="1874520"/>
            <a:ext cx="10881360" cy="868680"/>
          </a:xfrm>
          <a:prstGeom prst="roundRect">
            <a:avLst>
              <a:gd name="adj" fmla="val 8421"/>
            </a:avLst>
          </a:prstGeom>
          <a:solidFill>
            <a:srgbClr val="FFFFFF"/>
          </a:solidFill>
          <a:ln/>
        </p:spPr>
      </p:sp>
      <p:sp>
        <p:nvSpPr>
          <p:cNvPr id="6" name="Shape 4"/>
          <p:cNvSpPr/>
          <p:nvPr/>
        </p:nvSpPr>
        <p:spPr>
          <a:xfrm>
            <a:off x="914400" y="2093976"/>
            <a:ext cx="438912" cy="438912"/>
          </a:xfrm>
          <a:prstGeom prst="roundRect">
            <a:avLst>
              <a:gd name="adj" fmla="val 20833"/>
            </a:avLst>
          </a:prstGeom>
          <a:solidFill>
            <a:srgbClr val="1B3B2F"/>
          </a:solidFill>
          <a:ln/>
        </p:spPr>
      </p:sp>
      <p:sp>
        <p:nvSpPr>
          <p:cNvPr id="7" name="Text 5"/>
          <p:cNvSpPr/>
          <p:nvPr/>
        </p:nvSpPr>
        <p:spPr>
          <a:xfrm>
            <a:off x="914400" y="2093976"/>
            <a:ext cx="438912" cy="438912"/>
          </a:xfrm>
          <a:prstGeom prst="rect">
            <a:avLst/>
          </a:prstGeom>
          <a:noFill/>
          <a:ln/>
        </p:spPr>
        <p:txBody>
          <a:bodyPr wrap="square" rtlCol="0" anchor="ctr"/>
          <a:lstStyle/>
          <a:p>
            <a:pPr algn="ctr" indent="0" marL="0">
              <a:buNone/>
            </a:pPr>
            <a:r>
              <a:rPr lang="en-US" sz="1500" b="1" dirty="0">
                <a:solidFill>
                  <a:srgbClr val="8BC34A"/>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600200" y="1984248"/>
            <a:ext cx="2834640" cy="640080"/>
          </a:xfrm>
          <a:prstGeom prst="rect">
            <a:avLst/>
          </a:prstGeom>
          <a:noFill/>
          <a:ln/>
        </p:spPr>
        <p:txBody>
          <a:bodyPr wrap="square" rtlCol="0" anchor="ctr"/>
          <a:lstStyle/>
          <a:p>
            <a:pPr indent="0" marL="0">
              <a:buNone/>
            </a:pPr>
            <a:r>
              <a:rPr lang="en-US" sz="1550" b="1" dirty="0">
                <a:solidFill>
                  <a:srgbClr val="1E2A24"/>
                </a:solidFill>
                <a:latin typeface="Century Schoolbook" pitchFamily="34" charset="0"/>
                <a:ea typeface="Century Schoolbook" pitchFamily="34" charset="-122"/>
                <a:cs typeface="Century Schoolbook" pitchFamily="34" charset="-120"/>
              </a:rPr>
              <a:t>Tableau</a:t>
            </a:r>
            <a:endParaRPr lang="en-US" sz="1550" dirty="0"/>
          </a:p>
        </p:txBody>
      </p:sp>
      <p:sp>
        <p:nvSpPr>
          <p:cNvPr id="9" name="Text 7"/>
          <p:cNvSpPr/>
          <p:nvPr/>
        </p:nvSpPr>
        <p:spPr>
          <a:xfrm>
            <a:off x="4572000" y="1984248"/>
            <a:ext cx="6675120" cy="640080"/>
          </a:xfrm>
          <a:prstGeom prst="rect">
            <a:avLst/>
          </a:prstGeom>
          <a:noFill/>
          <a:ln/>
        </p:spPr>
        <p:txBody>
          <a:bodyPr wrap="square" rtlCol="0" anchor="ctr"/>
          <a:lstStyle/>
          <a:p>
            <a:pPr indent="0" marL="0">
              <a:buNone/>
            </a:pPr>
            <a:r>
              <a:rPr lang="en-US" sz="1250" dirty="0">
                <a:solidFill>
                  <a:srgbClr val="6B7970"/>
                </a:solidFill>
                <a:latin typeface="Calibri" pitchFamily="34" charset="0"/>
                <a:ea typeface="Calibri" pitchFamily="34" charset="-122"/>
                <a:cs typeface="Calibri" pitchFamily="34" charset="-120"/>
              </a:rPr>
              <a:t>Interactive dashboards &amp; telemetry visualization</a:t>
            </a:r>
            <a:endParaRPr lang="en-US" sz="1250" dirty="0"/>
          </a:p>
        </p:txBody>
      </p:sp>
      <p:sp>
        <p:nvSpPr>
          <p:cNvPr id="10" name="Shape 8"/>
          <p:cNvSpPr/>
          <p:nvPr/>
        </p:nvSpPr>
        <p:spPr>
          <a:xfrm>
            <a:off x="640080" y="2926080"/>
            <a:ext cx="10881360" cy="868680"/>
          </a:xfrm>
          <a:prstGeom prst="roundRect">
            <a:avLst>
              <a:gd name="adj" fmla="val 8421"/>
            </a:avLst>
          </a:prstGeom>
          <a:solidFill>
            <a:srgbClr val="FFFFFF"/>
          </a:solidFill>
          <a:ln/>
        </p:spPr>
      </p:sp>
      <p:sp>
        <p:nvSpPr>
          <p:cNvPr id="11" name="Shape 9"/>
          <p:cNvSpPr/>
          <p:nvPr/>
        </p:nvSpPr>
        <p:spPr>
          <a:xfrm>
            <a:off x="914400" y="3145536"/>
            <a:ext cx="438912" cy="438912"/>
          </a:xfrm>
          <a:prstGeom prst="roundRect">
            <a:avLst>
              <a:gd name="adj" fmla="val 20833"/>
            </a:avLst>
          </a:prstGeom>
          <a:solidFill>
            <a:srgbClr val="1B3B2F"/>
          </a:solidFill>
          <a:ln/>
        </p:spPr>
      </p:sp>
      <p:sp>
        <p:nvSpPr>
          <p:cNvPr id="12" name="Text 10"/>
          <p:cNvSpPr/>
          <p:nvPr/>
        </p:nvSpPr>
        <p:spPr>
          <a:xfrm>
            <a:off x="914400" y="3145536"/>
            <a:ext cx="438912" cy="438912"/>
          </a:xfrm>
          <a:prstGeom prst="rect">
            <a:avLst/>
          </a:prstGeom>
          <a:noFill/>
          <a:ln/>
        </p:spPr>
        <p:txBody>
          <a:bodyPr wrap="square" rtlCol="0" anchor="ctr"/>
          <a:lstStyle/>
          <a:p>
            <a:pPr algn="ctr" indent="0" marL="0">
              <a:buNone/>
            </a:pPr>
            <a:r>
              <a:rPr lang="en-US" sz="1500" b="1" dirty="0">
                <a:solidFill>
                  <a:srgbClr val="8BC34A"/>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600200" y="3035808"/>
            <a:ext cx="2834640" cy="640080"/>
          </a:xfrm>
          <a:prstGeom prst="rect">
            <a:avLst/>
          </a:prstGeom>
          <a:noFill/>
          <a:ln/>
        </p:spPr>
        <p:txBody>
          <a:bodyPr wrap="square" rtlCol="0" anchor="ctr"/>
          <a:lstStyle/>
          <a:p>
            <a:pPr indent="0" marL="0">
              <a:buNone/>
            </a:pPr>
            <a:r>
              <a:rPr lang="en-US" sz="1550" b="1" dirty="0">
                <a:solidFill>
                  <a:srgbClr val="1E2A24"/>
                </a:solidFill>
                <a:latin typeface="Century Schoolbook" pitchFamily="34" charset="0"/>
                <a:ea typeface="Century Schoolbook" pitchFamily="34" charset="-122"/>
                <a:cs typeface="Century Schoolbook" pitchFamily="34" charset="-120"/>
              </a:rPr>
              <a:t>Microsoft Excel</a:t>
            </a:r>
            <a:endParaRPr lang="en-US" sz="1550" dirty="0"/>
          </a:p>
        </p:txBody>
      </p:sp>
      <p:sp>
        <p:nvSpPr>
          <p:cNvPr id="14" name="Text 12"/>
          <p:cNvSpPr/>
          <p:nvPr/>
        </p:nvSpPr>
        <p:spPr>
          <a:xfrm>
            <a:off x="4572000" y="3035808"/>
            <a:ext cx="6675120" cy="640080"/>
          </a:xfrm>
          <a:prstGeom prst="rect">
            <a:avLst/>
          </a:prstGeom>
          <a:noFill/>
          <a:ln/>
        </p:spPr>
        <p:txBody>
          <a:bodyPr wrap="square" rtlCol="0" anchor="ctr"/>
          <a:lstStyle/>
          <a:p>
            <a:pPr indent="0" marL="0">
              <a:buNone/>
            </a:pPr>
            <a:r>
              <a:rPr lang="en-US" sz="1250" dirty="0">
                <a:solidFill>
                  <a:srgbClr val="6B7970"/>
                </a:solidFill>
                <a:latin typeface="Calibri" pitchFamily="34" charset="0"/>
                <a:ea typeface="Calibri" pitchFamily="34" charset="-122"/>
                <a:cs typeface="Calibri" pitchFamily="34" charset="-120"/>
              </a:rPr>
              <a:t>Data cleaning, logical functions &amp; pay classification</a:t>
            </a:r>
            <a:endParaRPr lang="en-US" sz="1250" dirty="0"/>
          </a:p>
        </p:txBody>
      </p:sp>
      <p:sp>
        <p:nvSpPr>
          <p:cNvPr id="15" name="Shape 13"/>
          <p:cNvSpPr/>
          <p:nvPr/>
        </p:nvSpPr>
        <p:spPr>
          <a:xfrm>
            <a:off x="640080" y="3977640"/>
            <a:ext cx="10881360" cy="868680"/>
          </a:xfrm>
          <a:prstGeom prst="roundRect">
            <a:avLst>
              <a:gd name="adj" fmla="val 8421"/>
            </a:avLst>
          </a:prstGeom>
          <a:solidFill>
            <a:srgbClr val="FFFFFF"/>
          </a:solidFill>
          <a:ln/>
        </p:spPr>
      </p:sp>
      <p:sp>
        <p:nvSpPr>
          <p:cNvPr id="16" name="Shape 14"/>
          <p:cNvSpPr/>
          <p:nvPr/>
        </p:nvSpPr>
        <p:spPr>
          <a:xfrm>
            <a:off x="914400" y="4197096"/>
            <a:ext cx="438912" cy="438912"/>
          </a:xfrm>
          <a:prstGeom prst="roundRect">
            <a:avLst>
              <a:gd name="adj" fmla="val 20833"/>
            </a:avLst>
          </a:prstGeom>
          <a:solidFill>
            <a:srgbClr val="1B3B2F"/>
          </a:solidFill>
          <a:ln/>
        </p:spPr>
      </p:sp>
      <p:sp>
        <p:nvSpPr>
          <p:cNvPr id="17" name="Text 15"/>
          <p:cNvSpPr/>
          <p:nvPr/>
        </p:nvSpPr>
        <p:spPr>
          <a:xfrm>
            <a:off x="914400" y="4197096"/>
            <a:ext cx="438912" cy="438912"/>
          </a:xfrm>
          <a:prstGeom prst="rect">
            <a:avLst/>
          </a:prstGeom>
          <a:noFill/>
          <a:ln/>
        </p:spPr>
        <p:txBody>
          <a:bodyPr wrap="square" rtlCol="0" anchor="ctr"/>
          <a:lstStyle/>
          <a:p>
            <a:pPr algn="ctr" indent="0" marL="0">
              <a:buNone/>
            </a:pPr>
            <a:r>
              <a:rPr lang="en-US" sz="1500" b="1" dirty="0">
                <a:solidFill>
                  <a:srgbClr val="8BC34A"/>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600200" y="4087368"/>
            <a:ext cx="2834640" cy="640080"/>
          </a:xfrm>
          <a:prstGeom prst="rect">
            <a:avLst/>
          </a:prstGeom>
          <a:noFill/>
          <a:ln/>
        </p:spPr>
        <p:txBody>
          <a:bodyPr wrap="square" rtlCol="0" anchor="ctr"/>
          <a:lstStyle/>
          <a:p>
            <a:pPr indent="0" marL="0">
              <a:buNone/>
            </a:pPr>
            <a:r>
              <a:rPr lang="en-US" sz="1550" b="1" dirty="0">
                <a:solidFill>
                  <a:srgbClr val="1E2A24"/>
                </a:solidFill>
                <a:latin typeface="Century Schoolbook" pitchFamily="34" charset="0"/>
                <a:ea typeface="Century Schoolbook" pitchFamily="34" charset="-122"/>
                <a:cs typeface="Century Schoolbook" pitchFamily="34" charset="-120"/>
              </a:rPr>
              <a:t>JSON</a:t>
            </a:r>
            <a:endParaRPr lang="en-US" sz="1550" dirty="0"/>
          </a:p>
        </p:txBody>
      </p:sp>
      <p:sp>
        <p:nvSpPr>
          <p:cNvPr id="19" name="Text 17"/>
          <p:cNvSpPr/>
          <p:nvPr/>
        </p:nvSpPr>
        <p:spPr>
          <a:xfrm>
            <a:off x="4572000" y="4087368"/>
            <a:ext cx="6675120" cy="640080"/>
          </a:xfrm>
          <a:prstGeom prst="rect">
            <a:avLst/>
          </a:prstGeom>
          <a:noFill/>
          <a:ln/>
        </p:spPr>
        <p:txBody>
          <a:bodyPr wrap="square" rtlCol="0" anchor="ctr"/>
          <a:lstStyle/>
          <a:p>
            <a:pPr indent="0" marL="0">
              <a:buNone/>
            </a:pPr>
            <a:r>
              <a:rPr lang="en-US" sz="1250" dirty="0">
                <a:solidFill>
                  <a:srgbClr val="6B7970"/>
                </a:solidFill>
                <a:latin typeface="Calibri" pitchFamily="34" charset="0"/>
                <a:ea typeface="Calibri" pitchFamily="34" charset="-122"/>
                <a:cs typeface="Calibri" pitchFamily="34" charset="-120"/>
              </a:rPr>
              <a:t>Raw machine telemetry dataset format</a:t>
            </a:r>
            <a:endParaRPr lang="en-US" sz="1250" dirty="0"/>
          </a:p>
        </p:txBody>
      </p:sp>
      <p:sp>
        <p:nvSpPr>
          <p:cNvPr id="20" name="Shape 18"/>
          <p:cNvSpPr/>
          <p:nvPr/>
        </p:nvSpPr>
        <p:spPr>
          <a:xfrm>
            <a:off x="640080" y="5029200"/>
            <a:ext cx="10881360" cy="868680"/>
          </a:xfrm>
          <a:prstGeom prst="roundRect">
            <a:avLst>
              <a:gd name="adj" fmla="val 8421"/>
            </a:avLst>
          </a:prstGeom>
          <a:solidFill>
            <a:srgbClr val="FFFFFF"/>
          </a:solidFill>
          <a:ln/>
        </p:spPr>
      </p:sp>
      <p:sp>
        <p:nvSpPr>
          <p:cNvPr id="21" name="Shape 19"/>
          <p:cNvSpPr/>
          <p:nvPr/>
        </p:nvSpPr>
        <p:spPr>
          <a:xfrm>
            <a:off x="914400" y="5248656"/>
            <a:ext cx="438912" cy="438912"/>
          </a:xfrm>
          <a:prstGeom prst="roundRect">
            <a:avLst>
              <a:gd name="adj" fmla="val 20833"/>
            </a:avLst>
          </a:prstGeom>
          <a:solidFill>
            <a:srgbClr val="1B3B2F"/>
          </a:solidFill>
          <a:ln/>
        </p:spPr>
      </p:sp>
      <p:sp>
        <p:nvSpPr>
          <p:cNvPr id="22" name="Text 20"/>
          <p:cNvSpPr/>
          <p:nvPr/>
        </p:nvSpPr>
        <p:spPr>
          <a:xfrm>
            <a:off x="914400" y="5248656"/>
            <a:ext cx="438912" cy="438912"/>
          </a:xfrm>
          <a:prstGeom prst="rect">
            <a:avLst/>
          </a:prstGeom>
          <a:noFill/>
          <a:ln/>
        </p:spPr>
        <p:txBody>
          <a:bodyPr wrap="square" rtlCol="0" anchor="ctr"/>
          <a:lstStyle/>
          <a:p>
            <a:pPr algn="ctr" indent="0" marL="0">
              <a:buNone/>
            </a:pPr>
            <a:r>
              <a:rPr lang="en-US" sz="1500" b="1" dirty="0">
                <a:solidFill>
                  <a:srgbClr val="8BC34A"/>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1600200" y="5138928"/>
            <a:ext cx="2834640" cy="640080"/>
          </a:xfrm>
          <a:prstGeom prst="rect">
            <a:avLst/>
          </a:prstGeom>
          <a:noFill/>
          <a:ln/>
        </p:spPr>
        <p:txBody>
          <a:bodyPr wrap="square" rtlCol="0" anchor="ctr"/>
          <a:lstStyle/>
          <a:p>
            <a:pPr indent="0" marL="0">
              <a:buNone/>
            </a:pPr>
            <a:r>
              <a:rPr lang="en-US" sz="1550" b="1" dirty="0">
                <a:solidFill>
                  <a:srgbClr val="1E2A24"/>
                </a:solidFill>
                <a:latin typeface="Century Schoolbook" pitchFamily="34" charset="0"/>
                <a:ea typeface="Century Schoolbook" pitchFamily="34" charset="-122"/>
                <a:cs typeface="Century Schoolbook" pitchFamily="34" charset="-120"/>
              </a:rPr>
              <a:t>Forage Platform</a:t>
            </a:r>
            <a:endParaRPr lang="en-US" sz="1550" dirty="0"/>
          </a:p>
        </p:txBody>
      </p:sp>
      <p:sp>
        <p:nvSpPr>
          <p:cNvPr id="24" name="Text 22"/>
          <p:cNvSpPr/>
          <p:nvPr/>
        </p:nvSpPr>
        <p:spPr>
          <a:xfrm>
            <a:off x="4572000" y="5138928"/>
            <a:ext cx="6675120" cy="640080"/>
          </a:xfrm>
          <a:prstGeom prst="rect">
            <a:avLst/>
          </a:prstGeom>
          <a:noFill/>
          <a:ln/>
        </p:spPr>
        <p:txBody>
          <a:bodyPr wrap="square" rtlCol="0" anchor="ctr"/>
          <a:lstStyle/>
          <a:p>
            <a:pPr indent="0" marL="0">
              <a:buNone/>
            </a:pPr>
            <a:r>
              <a:rPr lang="en-US" sz="1250" dirty="0">
                <a:solidFill>
                  <a:srgbClr val="6B7970"/>
                </a:solidFill>
                <a:latin typeface="Calibri" pitchFamily="34" charset="0"/>
                <a:ea typeface="Calibri" pitchFamily="34" charset="-122"/>
                <a:cs typeface="Calibri" pitchFamily="34" charset="-120"/>
              </a:rPr>
              <a:t>Task guidance, resources &amp; feedback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B2F"/>
        </a:solidFill>
      </p:bgPr>
    </p:bg>
    <p:spTree>
      <p:nvGrpSpPr>
        <p:cNvPr id="1" name=""/>
        <p:cNvGrpSpPr/>
        <p:nvPr/>
      </p:nvGrpSpPr>
      <p:grpSpPr>
        <a:xfrm>
          <a:off x="0" y="0"/>
          <a:ext cx="0" cy="0"/>
          <a:chOff x="0" y="0"/>
          <a:chExt cx="0" cy="0"/>
        </a:xfrm>
      </p:grpSpPr>
      <p:sp>
        <p:nvSpPr>
          <p:cNvPr id="2" name="Text 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6B7970"/>
                </a:solidFill>
                <a:latin typeface="Calibri" pitchFamily="34" charset="0"/>
                <a:ea typeface="Calibri" pitchFamily="34" charset="-122"/>
                <a:cs typeface="Calibri" pitchFamily="34" charset="-120"/>
              </a:rPr>
              <a:t>08</a:t>
            </a:r>
            <a:endParaRPr lang="en-US" sz="1000" dirty="0"/>
          </a:p>
        </p:txBody>
      </p:sp>
      <p:sp>
        <p:nvSpPr>
          <p:cNvPr id="3" name="Text 1"/>
          <p:cNvSpPr/>
          <p:nvPr/>
        </p:nvSpPr>
        <p:spPr>
          <a:xfrm>
            <a:off x="640080" y="548640"/>
            <a:ext cx="5486400" cy="320040"/>
          </a:xfrm>
          <a:prstGeom prst="rect">
            <a:avLst/>
          </a:prstGeom>
          <a:noFill/>
          <a:ln/>
        </p:spPr>
        <p:txBody>
          <a:bodyPr wrap="square" rtlCol="0" anchor="ctr"/>
          <a:lstStyle/>
          <a:p>
            <a:pPr indent="0" marL="0">
              <a:buNone/>
            </a:pPr>
            <a:r>
              <a:rPr lang="en-US" sz="1200" b="1" spc="200" kern="0" dirty="0">
                <a:solidFill>
                  <a:srgbClr val="8BC34A"/>
                </a:solidFill>
                <a:latin typeface="Calibri" pitchFamily="34" charset="0"/>
                <a:ea typeface="Calibri" pitchFamily="34" charset="-122"/>
                <a:cs typeface="Calibri" pitchFamily="34" charset="-120"/>
              </a:rPr>
              <a:t>WORKFLOW</a:t>
            </a:r>
            <a:endParaRPr lang="en-US" sz="1200" dirty="0"/>
          </a:p>
        </p:txBody>
      </p:sp>
      <p:sp>
        <p:nvSpPr>
          <p:cNvPr id="4" name="Text 2"/>
          <p:cNvSpPr/>
          <p:nvPr/>
        </p:nvSpPr>
        <p:spPr>
          <a:xfrm>
            <a:off x="640080" y="868680"/>
            <a:ext cx="9601200" cy="640080"/>
          </a:xfrm>
          <a:prstGeom prst="rect">
            <a:avLst/>
          </a:prstGeom>
          <a:noFill/>
          <a:ln/>
        </p:spPr>
        <p:txBody>
          <a:bodyPr wrap="square" rtlCol="0" anchor="ctr"/>
          <a:lstStyle/>
          <a:p>
            <a:pPr indent="0" marL="0">
              <a:buNone/>
            </a:pPr>
            <a:r>
              <a:rPr lang="en-US" sz="2700" b="1" dirty="0">
                <a:solidFill>
                  <a:srgbClr val="FFFFFF"/>
                </a:solidFill>
                <a:latin typeface="Century Schoolbook" pitchFamily="34" charset="0"/>
                <a:ea typeface="Century Schoolbook" pitchFamily="34" charset="-122"/>
                <a:cs typeface="Century Schoolbook" pitchFamily="34" charset="-120"/>
              </a:rPr>
              <a:t>A simple, linear data-analytics workflow</a:t>
            </a:r>
            <a:endParaRPr lang="en-US" sz="2700" dirty="0"/>
          </a:p>
        </p:txBody>
      </p:sp>
      <p:sp>
        <p:nvSpPr>
          <p:cNvPr id="5" name="Shape 3"/>
          <p:cNvSpPr/>
          <p:nvPr/>
        </p:nvSpPr>
        <p:spPr>
          <a:xfrm>
            <a:off x="640080" y="1828800"/>
            <a:ext cx="457200" cy="457200"/>
          </a:xfrm>
          <a:prstGeom prst="roundRect">
            <a:avLst>
              <a:gd name="adj" fmla="val 20000"/>
            </a:avLst>
          </a:prstGeom>
          <a:solidFill>
            <a:srgbClr val="8BC34A"/>
          </a:solidFill>
          <a:ln/>
        </p:spPr>
      </p:sp>
      <p:sp>
        <p:nvSpPr>
          <p:cNvPr id="6" name="Text 4"/>
          <p:cNvSpPr/>
          <p:nvPr/>
        </p:nvSpPr>
        <p:spPr>
          <a:xfrm>
            <a:off x="640080" y="1828800"/>
            <a:ext cx="457200" cy="457200"/>
          </a:xfrm>
          <a:prstGeom prst="rect">
            <a:avLst/>
          </a:prstGeom>
          <a:noFill/>
          <a:ln/>
        </p:spPr>
        <p:txBody>
          <a:bodyPr wrap="square" rtlCol="0" anchor="ctr"/>
          <a:lstStyle/>
          <a:p>
            <a:pPr algn="ctr" indent="0" marL="0">
              <a:buNone/>
            </a:pPr>
            <a:r>
              <a:rPr lang="en-US" sz="1500" b="1" dirty="0">
                <a:solidFill>
                  <a:srgbClr val="10241C"/>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783080"/>
            <a:ext cx="3017520" cy="548640"/>
          </a:xfrm>
          <a:prstGeom prst="rect">
            <a:avLst/>
          </a:prstGeom>
          <a:noFill/>
          <a:ln/>
        </p:spPr>
        <p:txBody>
          <a:bodyPr wrap="square" rtlCol="0" anchor="ctr"/>
          <a:lstStyle/>
          <a:p>
            <a:pPr indent="0" marL="0">
              <a:buNone/>
            </a:pPr>
            <a:r>
              <a:rPr lang="en-US" sz="1400" b="1" dirty="0">
                <a:solidFill>
                  <a:srgbClr val="FFFFFF"/>
                </a:solidFill>
                <a:latin typeface="Century Schoolbook" pitchFamily="34" charset="0"/>
                <a:ea typeface="Century Schoolbook" pitchFamily="34" charset="-122"/>
                <a:cs typeface="Century Schoolbook" pitchFamily="34" charset="-120"/>
              </a:rPr>
              <a:t>Raw Data Sources</a:t>
            </a:r>
            <a:endParaRPr lang="en-US" sz="1400" dirty="0"/>
          </a:p>
        </p:txBody>
      </p:sp>
      <p:sp>
        <p:nvSpPr>
          <p:cNvPr id="8" name="Text 6"/>
          <p:cNvSpPr/>
          <p:nvPr/>
        </p:nvSpPr>
        <p:spPr>
          <a:xfrm>
            <a:off x="4480560" y="1783080"/>
            <a:ext cx="7040880" cy="548640"/>
          </a:xfrm>
          <a:prstGeom prst="rect">
            <a:avLst/>
          </a:prstGeom>
          <a:noFill/>
          <a:ln/>
        </p:spPr>
        <p:txBody>
          <a:bodyPr wrap="square" rtlCol="0" anchor="ctr"/>
          <a:lstStyle/>
          <a:p>
            <a:pPr indent="0" marL="0">
              <a:lnSpc>
                <a:spcPct val="115000"/>
              </a:lnSpc>
              <a:buNone/>
            </a:pPr>
            <a:r>
              <a:rPr lang="en-US" sz="1200" dirty="0">
                <a:solidFill>
                  <a:srgbClr val="F4F6F2"/>
                </a:solidFill>
                <a:latin typeface="Calibri" pitchFamily="34" charset="0"/>
                <a:ea typeface="Calibri" pitchFamily="34" charset="-122"/>
                <a:cs typeface="Calibri" pitchFamily="34" charset="-120"/>
              </a:rPr>
              <a:t>Telemetry (JSON) from four factories &amp; employee payroll data (Excel)</a:t>
            </a:r>
            <a:endParaRPr lang="en-US" sz="1200" dirty="0"/>
          </a:p>
        </p:txBody>
      </p:sp>
      <p:sp>
        <p:nvSpPr>
          <p:cNvPr id="9" name="Shape 7"/>
          <p:cNvSpPr/>
          <p:nvPr/>
        </p:nvSpPr>
        <p:spPr>
          <a:xfrm>
            <a:off x="868680" y="2286000"/>
            <a:ext cx="0" cy="411480"/>
          </a:xfrm>
          <a:prstGeom prst="line">
            <a:avLst/>
          </a:prstGeom>
          <a:noFill/>
          <a:ln w="19050">
            <a:solidFill>
              <a:srgbClr val="8BC34A"/>
            </a:solidFill>
            <a:prstDash val="dash"/>
          </a:ln>
        </p:spPr>
      </p:sp>
      <p:sp>
        <p:nvSpPr>
          <p:cNvPr id="10" name="Shape 8"/>
          <p:cNvSpPr/>
          <p:nvPr/>
        </p:nvSpPr>
        <p:spPr>
          <a:xfrm>
            <a:off x="640080" y="2697480"/>
            <a:ext cx="457200" cy="457200"/>
          </a:xfrm>
          <a:prstGeom prst="roundRect">
            <a:avLst>
              <a:gd name="adj" fmla="val 20000"/>
            </a:avLst>
          </a:prstGeom>
          <a:solidFill>
            <a:srgbClr val="8BC34A"/>
          </a:solidFill>
          <a:ln/>
        </p:spPr>
      </p:sp>
      <p:sp>
        <p:nvSpPr>
          <p:cNvPr id="11" name="Text 9"/>
          <p:cNvSpPr/>
          <p:nvPr/>
        </p:nvSpPr>
        <p:spPr>
          <a:xfrm>
            <a:off x="640080" y="2697480"/>
            <a:ext cx="457200" cy="457200"/>
          </a:xfrm>
          <a:prstGeom prst="rect">
            <a:avLst/>
          </a:prstGeom>
          <a:noFill/>
          <a:ln/>
        </p:spPr>
        <p:txBody>
          <a:bodyPr wrap="square" rtlCol="0" anchor="ctr"/>
          <a:lstStyle/>
          <a:p>
            <a:pPr algn="ctr" indent="0" marL="0">
              <a:buNone/>
            </a:pPr>
            <a:r>
              <a:rPr lang="en-US" sz="1500" b="1" dirty="0">
                <a:solidFill>
                  <a:srgbClr val="10241C"/>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325880" y="2651760"/>
            <a:ext cx="3017520" cy="548640"/>
          </a:xfrm>
          <a:prstGeom prst="rect">
            <a:avLst/>
          </a:prstGeom>
          <a:noFill/>
          <a:ln/>
        </p:spPr>
        <p:txBody>
          <a:bodyPr wrap="square" rtlCol="0" anchor="ctr"/>
          <a:lstStyle/>
          <a:p>
            <a:pPr indent="0" marL="0">
              <a:buNone/>
            </a:pPr>
            <a:r>
              <a:rPr lang="en-US" sz="1400" b="1" dirty="0">
                <a:solidFill>
                  <a:srgbClr val="FFFFFF"/>
                </a:solidFill>
                <a:latin typeface="Century Schoolbook" pitchFamily="34" charset="0"/>
                <a:ea typeface="Century Schoolbook" pitchFamily="34" charset="-122"/>
                <a:cs typeface="Century Schoolbook" pitchFamily="34" charset="-120"/>
              </a:rPr>
              <a:t>Import &amp; Cleaning</a:t>
            </a:r>
            <a:endParaRPr lang="en-US" sz="1400" dirty="0"/>
          </a:p>
        </p:txBody>
      </p:sp>
      <p:sp>
        <p:nvSpPr>
          <p:cNvPr id="13" name="Text 11"/>
          <p:cNvSpPr/>
          <p:nvPr/>
        </p:nvSpPr>
        <p:spPr>
          <a:xfrm>
            <a:off x="4480560" y="2651760"/>
            <a:ext cx="7040880" cy="548640"/>
          </a:xfrm>
          <a:prstGeom prst="rect">
            <a:avLst/>
          </a:prstGeom>
          <a:noFill/>
          <a:ln/>
        </p:spPr>
        <p:txBody>
          <a:bodyPr wrap="square" rtlCol="0" anchor="ctr"/>
          <a:lstStyle/>
          <a:p>
            <a:pPr indent="0" marL="0">
              <a:lnSpc>
                <a:spcPct val="115000"/>
              </a:lnSpc>
              <a:buNone/>
            </a:pPr>
            <a:r>
              <a:rPr lang="en-US" sz="1200" dirty="0">
                <a:solidFill>
                  <a:srgbClr val="F4F6F2"/>
                </a:solidFill>
                <a:latin typeface="Calibri" pitchFamily="34" charset="0"/>
                <a:ea typeface="Calibri" pitchFamily="34" charset="-122"/>
                <a:cs typeface="Calibri" pitchFamily="34" charset="-120"/>
              </a:rPr>
              <a:t>Telemetry imported into Tableau; payroll cleaned &amp; structured in Excel</a:t>
            </a:r>
            <a:endParaRPr lang="en-US" sz="1200" dirty="0"/>
          </a:p>
        </p:txBody>
      </p:sp>
      <p:sp>
        <p:nvSpPr>
          <p:cNvPr id="14" name="Shape 12"/>
          <p:cNvSpPr/>
          <p:nvPr/>
        </p:nvSpPr>
        <p:spPr>
          <a:xfrm>
            <a:off x="868680" y="3154680"/>
            <a:ext cx="0" cy="411480"/>
          </a:xfrm>
          <a:prstGeom prst="line">
            <a:avLst/>
          </a:prstGeom>
          <a:noFill/>
          <a:ln w="19050">
            <a:solidFill>
              <a:srgbClr val="8BC34A"/>
            </a:solidFill>
            <a:prstDash val="dash"/>
          </a:ln>
        </p:spPr>
      </p:sp>
      <p:sp>
        <p:nvSpPr>
          <p:cNvPr id="15" name="Shape 13"/>
          <p:cNvSpPr/>
          <p:nvPr/>
        </p:nvSpPr>
        <p:spPr>
          <a:xfrm>
            <a:off x="640080" y="3566160"/>
            <a:ext cx="457200" cy="457200"/>
          </a:xfrm>
          <a:prstGeom prst="roundRect">
            <a:avLst>
              <a:gd name="adj" fmla="val 20000"/>
            </a:avLst>
          </a:prstGeom>
          <a:solidFill>
            <a:srgbClr val="8BC34A"/>
          </a:solidFill>
          <a:ln/>
        </p:spPr>
      </p:sp>
      <p:sp>
        <p:nvSpPr>
          <p:cNvPr id="16" name="Text 14"/>
          <p:cNvSpPr/>
          <p:nvPr/>
        </p:nvSpPr>
        <p:spPr>
          <a:xfrm>
            <a:off x="640080" y="3566160"/>
            <a:ext cx="457200" cy="457200"/>
          </a:xfrm>
          <a:prstGeom prst="rect">
            <a:avLst/>
          </a:prstGeom>
          <a:noFill/>
          <a:ln/>
        </p:spPr>
        <p:txBody>
          <a:bodyPr wrap="square" rtlCol="0" anchor="ctr"/>
          <a:lstStyle/>
          <a:p>
            <a:pPr algn="ctr" indent="0" marL="0">
              <a:buNone/>
            </a:pPr>
            <a:r>
              <a:rPr lang="en-US" sz="1500" b="1" dirty="0">
                <a:solidFill>
                  <a:srgbClr val="10241C"/>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25880" y="3520440"/>
            <a:ext cx="3017520" cy="548640"/>
          </a:xfrm>
          <a:prstGeom prst="rect">
            <a:avLst/>
          </a:prstGeom>
          <a:noFill/>
          <a:ln/>
        </p:spPr>
        <p:txBody>
          <a:bodyPr wrap="square" rtlCol="0" anchor="ctr"/>
          <a:lstStyle/>
          <a:p>
            <a:pPr indent="0" marL="0">
              <a:buNone/>
            </a:pPr>
            <a:r>
              <a:rPr lang="en-US" sz="1400" b="1" dirty="0">
                <a:solidFill>
                  <a:srgbClr val="FFFFFF"/>
                </a:solidFill>
                <a:latin typeface="Century Schoolbook" pitchFamily="34" charset="0"/>
                <a:ea typeface="Century Schoolbook" pitchFamily="34" charset="-122"/>
                <a:cs typeface="Century Schoolbook" pitchFamily="34" charset="-120"/>
              </a:rPr>
              <a:t>Processing Layer</a:t>
            </a:r>
            <a:endParaRPr lang="en-US" sz="1400" dirty="0"/>
          </a:p>
        </p:txBody>
      </p:sp>
      <p:sp>
        <p:nvSpPr>
          <p:cNvPr id="18" name="Text 16"/>
          <p:cNvSpPr/>
          <p:nvPr/>
        </p:nvSpPr>
        <p:spPr>
          <a:xfrm>
            <a:off x="4480560" y="3520440"/>
            <a:ext cx="7040880" cy="548640"/>
          </a:xfrm>
          <a:prstGeom prst="rect">
            <a:avLst/>
          </a:prstGeom>
          <a:noFill/>
          <a:ln/>
        </p:spPr>
        <p:txBody>
          <a:bodyPr wrap="square" rtlCol="0" anchor="ctr"/>
          <a:lstStyle/>
          <a:p>
            <a:pPr indent="0" marL="0">
              <a:lnSpc>
                <a:spcPct val="115000"/>
              </a:lnSpc>
              <a:buNone/>
            </a:pPr>
            <a:r>
              <a:rPr lang="en-US" sz="1200" dirty="0">
                <a:solidFill>
                  <a:srgbClr val="F4F6F2"/>
                </a:solidFill>
                <a:latin typeface="Calibri" pitchFamily="34" charset="0"/>
                <a:ea typeface="Calibri" pitchFamily="34" charset="-122"/>
                <a:cs typeface="Calibri" pitchFamily="34" charset="-120"/>
              </a:rPr>
              <a:t>Calculated fields flag "unhealthy" status; IF-based formulas classify pay bands</a:t>
            </a:r>
            <a:endParaRPr lang="en-US" sz="1200" dirty="0"/>
          </a:p>
        </p:txBody>
      </p:sp>
      <p:sp>
        <p:nvSpPr>
          <p:cNvPr id="19" name="Shape 17"/>
          <p:cNvSpPr/>
          <p:nvPr/>
        </p:nvSpPr>
        <p:spPr>
          <a:xfrm>
            <a:off x="868680" y="4023360"/>
            <a:ext cx="0" cy="411480"/>
          </a:xfrm>
          <a:prstGeom prst="line">
            <a:avLst/>
          </a:prstGeom>
          <a:noFill/>
          <a:ln w="19050">
            <a:solidFill>
              <a:srgbClr val="8BC34A"/>
            </a:solidFill>
            <a:prstDash val="dash"/>
          </a:ln>
        </p:spPr>
      </p:sp>
      <p:sp>
        <p:nvSpPr>
          <p:cNvPr id="20" name="Shape 18"/>
          <p:cNvSpPr/>
          <p:nvPr/>
        </p:nvSpPr>
        <p:spPr>
          <a:xfrm>
            <a:off x="640080" y="4434840"/>
            <a:ext cx="457200" cy="457200"/>
          </a:xfrm>
          <a:prstGeom prst="roundRect">
            <a:avLst>
              <a:gd name="adj" fmla="val 20000"/>
            </a:avLst>
          </a:prstGeom>
          <a:solidFill>
            <a:srgbClr val="8BC34A"/>
          </a:solidFill>
          <a:ln/>
        </p:spPr>
      </p:sp>
      <p:sp>
        <p:nvSpPr>
          <p:cNvPr id="21" name="Text 19"/>
          <p:cNvSpPr/>
          <p:nvPr/>
        </p:nvSpPr>
        <p:spPr>
          <a:xfrm>
            <a:off x="640080" y="4434840"/>
            <a:ext cx="457200" cy="457200"/>
          </a:xfrm>
          <a:prstGeom prst="rect">
            <a:avLst/>
          </a:prstGeom>
          <a:noFill/>
          <a:ln/>
        </p:spPr>
        <p:txBody>
          <a:bodyPr wrap="square" rtlCol="0" anchor="ctr"/>
          <a:lstStyle/>
          <a:p>
            <a:pPr algn="ctr" indent="0" marL="0">
              <a:buNone/>
            </a:pPr>
            <a:r>
              <a:rPr lang="en-US" sz="1500" b="1" dirty="0">
                <a:solidFill>
                  <a:srgbClr val="10241C"/>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325880" y="4389120"/>
            <a:ext cx="3017520" cy="548640"/>
          </a:xfrm>
          <a:prstGeom prst="rect">
            <a:avLst/>
          </a:prstGeom>
          <a:noFill/>
          <a:ln/>
        </p:spPr>
        <p:txBody>
          <a:bodyPr wrap="square" rtlCol="0" anchor="ctr"/>
          <a:lstStyle/>
          <a:p>
            <a:pPr indent="0" marL="0">
              <a:buNone/>
            </a:pPr>
            <a:r>
              <a:rPr lang="en-US" sz="1400" b="1" dirty="0">
                <a:solidFill>
                  <a:srgbClr val="FFFFFF"/>
                </a:solidFill>
                <a:latin typeface="Century Schoolbook" pitchFamily="34" charset="0"/>
                <a:ea typeface="Century Schoolbook" pitchFamily="34" charset="-122"/>
                <a:cs typeface="Century Schoolbook" pitchFamily="34" charset="-120"/>
              </a:rPr>
              <a:t>Visualization &amp; Output</a:t>
            </a:r>
            <a:endParaRPr lang="en-US" sz="1400" dirty="0"/>
          </a:p>
        </p:txBody>
      </p:sp>
      <p:sp>
        <p:nvSpPr>
          <p:cNvPr id="23" name="Text 21"/>
          <p:cNvSpPr/>
          <p:nvPr/>
        </p:nvSpPr>
        <p:spPr>
          <a:xfrm>
            <a:off x="4480560" y="4389120"/>
            <a:ext cx="7040880" cy="548640"/>
          </a:xfrm>
          <a:prstGeom prst="rect">
            <a:avLst/>
          </a:prstGeom>
          <a:noFill/>
          <a:ln/>
        </p:spPr>
        <p:txBody>
          <a:bodyPr wrap="square" rtlCol="0" anchor="ctr"/>
          <a:lstStyle/>
          <a:p>
            <a:pPr indent="0" marL="0">
              <a:lnSpc>
                <a:spcPct val="115000"/>
              </a:lnSpc>
              <a:buNone/>
            </a:pPr>
            <a:r>
              <a:rPr lang="en-US" sz="1200" dirty="0">
                <a:solidFill>
                  <a:srgbClr val="F4F6F2"/>
                </a:solidFill>
                <a:latin typeface="Calibri" pitchFamily="34" charset="0"/>
                <a:ea typeface="Calibri" pitchFamily="34" charset="-122"/>
                <a:cs typeface="Calibri" pitchFamily="34" charset="-120"/>
              </a:rPr>
              <a:t>Interactive Tableau dashboard &amp; Excel-based pay equity summary</a:t>
            </a:r>
            <a:endParaRPr lang="en-US" sz="1200" dirty="0"/>
          </a:p>
        </p:txBody>
      </p:sp>
      <p:sp>
        <p:nvSpPr>
          <p:cNvPr id="24" name="Shape 22"/>
          <p:cNvSpPr/>
          <p:nvPr/>
        </p:nvSpPr>
        <p:spPr>
          <a:xfrm>
            <a:off x="868680" y="4892040"/>
            <a:ext cx="0" cy="411480"/>
          </a:xfrm>
          <a:prstGeom prst="line">
            <a:avLst/>
          </a:prstGeom>
          <a:noFill/>
          <a:ln w="19050">
            <a:solidFill>
              <a:srgbClr val="8BC34A"/>
            </a:solidFill>
            <a:prstDash val="dash"/>
          </a:ln>
        </p:spPr>
      </p:sp>
      <p:sp>
        <p:nvSpPr>
          <p:cNvPr id="25" name="Shape 23"/>
          <p:cNvSpPr/>
          <p:nvPr/>
        </p:nvSpPr>
        <p:spPr>
          <a:xfrm>
            <a:off x="640080" y="5303520"/>
            <a:ext cx="457200" cy="457200"/>
          </a:xfrm>
          <a:prstGeom prst="roundRect">
            <a:avLst>
              <a:gd name="adj" fmla="val 20000"/>
            </a:avLst>
          </a:prstGeom>
          <a:solidFill>
            <a:srgbClr val="8BC34A"/>
          </a:solidFill>
          <a:ln/>
        </p:spPr>
      </p:sp>
      <p:sp>
        <p:nvSpPr>
          <p:cNvPr id="26" name="Text 24"/>
          <p:cNvSpPr/>
          <p:nvPr/>
        </p:nvSpPr>
        <p:spPr>
          <a:xfrm>
            <a:off x="640080" y="5303520"/>
            <a:ext cx="457200" cy="457200"/>
          </a:xfrm>
          <a:prstGeom prst="rect">
            <a:avLst/>
          </a:prstGeom>
          <a:noFill/>
          <a:ln/>
        </p:spPr>
        <p:txBody>
          <a:bodyPr wrap="square" rtlCol="0" anchor="ctr"/>
          <a:lstStyle/>
          <a:p>
            <a:pPr algn="ctr" indent="0" marL="0">
              <a:buNone/>
            </a:pPr>
            <a:r>
              <a:rPr lang="en-US" sz="1500" b="1" dirty="0">
                <a:solidFill>
                  <a:srgbClr val="10241C"/>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325880" y="5257800"/>
            <a:ext cx="3017520" cy="548640"/>
          </a:xfrm>
          <a:prstGeom prst="rect">
            <a:avLst/>
          </a:prstGeom>
          <a:noFill/>
          <a:ln/>
        </p:spPr>
        <p:txBody>
          <a:bodyPr wrap="square" rtlCol="0" anchor="ctr"/>
          <a:lstStyle/>
          <a:p>
            <a:pPr indent="0" marL="0">
              <a:buNone/>
            </a:pPr>
            <a:r>
              <a:rPr lang="en-US" sz="1400" b="1" dirty="0">
                <a:solidFill>
                  <a:srgbClr val="FFFFFF"/>
                </a:solidFill>
                <a:latin typeface="Century Schoolbook" pitchFamily="34" charset="0"/>
                <a:ea typeface="Century Schoolbook" pitchFamily="34" charset="-122"/>
                <a:cs typeface="Century Schoolbook" pitchFamily="34" charset="-120"/>
              </a:rPr>
              <a:t>Insight Delivery</a:t>
            </a:r>
            <a:endParaRPr lang="en-US" sz="1400" dirty="0"/>
          </a:p>
        </p:txBody>
      </p:sp>
      <p:sp>
        <p:nvSpPr>
          <p:cNvPr id="28" name="Text 26"/>
          <p:cNvSpPr/>
          <p:nvPr/>
        </p:nvSpPr>
        <p:spPr>
          <a:xfrm>
            <a:off x="4480560" y="5257800"/>
            <a:ext cx="7040880" cy="548640"/>
          </a:xfrm>
          <a:prstGeom prst="rect">
            <a:avLst/>
          </a:prstGeom>
          <a:noFill/>
          <a:ln/>
        </p:spPr>
        <p:txBody>
          <a:bodyPr wrap="square" rtlCol="0" anchor="ctr"/>
          <a:lstStyle/>
          <a:p>
            <a:pPr indent="0" marL="0">
              <a:lnSpc>
                <a:spcPct val="115000"/>
              </a:lnSpc>
              <a:buNone/>
            </a:pPr>
            <a:r>
              <a:rPr lang="en-US" sz="1200" dirty="0">
                <a:solidFill>
                  <a:srgbClr val="F4F6F2"/>
                </a:solidFill>
                <a:latin typeface="Calibri" pitchFamily="34" charset="0"/>
                <a:ea typeface="Calibri" pitchFamily="34" charset="-122"/>
                <a:cs typeface="Calibri" pitchFamily="34" charset="-120"/>
              </a:rPr>
              <a:t>Findings summarized into business-friendly recommendations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6B7970"/>
                </a:solidFill>
                <a:latin typeface="Calibri" pitchFamily="34" charset="0"/>
                <a:ea typeface="Calibri" pitchFamily="34" charset="-122"/>
                <a:cs typeface="Calibri" pitchFamily="34" charset="-120"/>
              </a:rPr>
              <a:t>09</a:t>
            </a:r>
            <a:endParaRPr lang="en-US" sz="1000" dirty="0"/>
          </a:p>
        </p:txBody>
      </p:sp>
      <p:sp>
        <p:nvSpPr>
          <p:cNvPr id="3" name="Text 1"/>
          <p:cNvSpPr/>
          <p:nvPr/>
        </p:nvSpPr>
        <p:spPr>
          <a:xfrm>
            <a:off x="640080" y="548640"/>
            <a:ext cx="5486400" cy="320040"/>
          </a:xfrm>
          <a:prstGeom prst="rect">
            <a:avLst/>
          </a:prstGeom>
          <a:noFill/>
          <a:ln/>
        </p:spPr>
        <p:txBody>
          <a:bodyPr wrap="square" rtlCol="0" anchor="ctr"/>
          <a:lstStyle/>
          <a:p>
            <a:pPr indent="0" marL="0">
              <a:buNone/>
            </a:pPr>
            <a:r>
              <a:rPr lang="en-US" sz="1200" b="1" spc="200" kern="0" dirty="0">
                <a:solidFill>
                  <a:srgbClr val="1B3B2F"/>
                </a:solidFill>
                <a:latin typeface="Calibri" pitchFamily="34" charset="0"/>
                <a:ea typeface="Calibri" pitchFamily="34" charset="-122"/>
                <a:cs typeface="Calibri" pitchFamily="34" charset="-120"/>
              </a:rPr>
              <a:t>METHODOLOGY</a:t>
            </a:r>
            <a:endParaRPr lang="en-US" sz="1200" dirty="0"/>
          </a:p>
        </p:txBody>
      </p:sp>
      <p:sp>
        <p:nvSpPr>
          <p:cNvPr id="4" name="Text 2"/>
          <p:cNvSpPr/>
          <p:nvPr/>
        </p:nvSpPr>
        <p:spPr>
          <a:xfrm>
            <a:off x="640080" y="868680"/>
            <a:ext cx="9601200" cy="640080"/>
          </a:xfrm>
          <a:prstGeom prst="rect">
            <a:avLst/>
          </a:prstGeom>
          <a:noFill/>
          <a:ln/>
        </p:spPr>
        <p:txBody>
          <a:bodyPr wrap="square" rtlCol="0" anchor="ctr"/>
          <a:lstStyle/>
          <a:p>
            <a:pPr indent="0" marL="0">
              <a:buNone/>
            </a:pPr>
            <a:r>
              <a:rPr lang="en-US" sz="2800" b="1" dirty="0">
                <a:solidFill>
                  <a:srgbClr val="1E2A24"/>
                </a:solidFill>
                <a:latin typeface="Century Schoolbook" pitchFamily="34" charset="0"/>
                <a:ea typeface="Century Schoolbook" pitchFamily="34" charset="-122"/>
                <a:cs typeface="Century Schoolbook" pitchFamily="34" charset="-120"/>
              </a:rPr>
              <a:t>Two structured phases</a:t>
            </a:r>
            <a:endParaRPr lang="en-US" sz="2800" dirty="0"/>
          </a:p>
        </p:txBody>
      </p:sp>
      <p:sp>
        <p:nvSpPr>
          <p:cNvPr id="5" name="Shape 3"/>
          <p:cNvSpPr/>
          <p:nvPr/>
        </p:nvSpPr>
        <p:spPr>
          <a:xfrm>
            <a:off x="640080" y="1828800"/>
            <a:ext cx="5257800" cy="3931920"/>
          </a:xfrm>
          <a:prstGeom prst="roundRect">
            <a:avLst>
              <a:gd name="adj" fmla="val 2326"/>
            </a:avLst>
          </a:prstGeom>
          <a:solidFill>
            <a:srgbClr val="F4F6F2"/>
          </a:solidFill>
          <a:ln/>
        </p:spPr>
      </p:sp>
      <p:sp>
        <p:nvSpPr>
          <p:cNvPr id="6" name="Shape 4"/>
          <p:cNvSpPr/>
          <p:nvPr/>
        </p:nvSpPr>
        <p:spPr>
          <a:xfrm>
            <a:off x="960120" y="2148840"/>
            <a:ext cx="502920" cy="502920"/>
          </a:xfrm>
          <a:prstGeom prst="roundRect">
            <a:avLst>
              <a:gd name="adj" fmla="val 18182"/>
            </a:avLst>
          </a:prstGeom>
          <a:solidFill>
            <a:srgbClr val="1B3B2F"/>
          </a:solidFill>
          <a:ln/>
        </p:spPr>
      </p:sp>
      <p:sp>
        <p:nvSpPr>
          <p:cNvPr id="7" name="Text 5"/>
          <p:cNvSpPr/>
          <p:nvPr/>
        </p:nvSpPr>
        <p:spPr>
          <a:xfrm>
            <a:off x="960120" y="2148840"/>
            <a:ext cx="502920" cy="502920"/>
          </a:xfrm>
          <a:prstGeom prst="rect">
            <a:avLst/>
          </a:prstGeom>
          <a:noFill/>
          <a:ln/>
        </p:spPr>
        <p:txBody>
          <a:bodyPr wrap="square" rtlCol="0" anchor="ctr"/>
          <a:lstStyle/>
          <a:p>
            <a:pPr algn="ctr" indent="0" marL="0">
              <a:buNone/>
            </a:pPr>
            <a:r>
              <a:rPr lang="en-US" sz="1800" b="1" dirty="0">
                <a:solidFill>
                  <a:srgbClr val="8BC34A"/>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600200" y="2194560"/>
            <a:ext cx="4023360" cy="457200"/>
          </a:xfrm>
          <a:prstGeom prst="rect">
            <a:avLst/>
          </a:prstGeom>
          <a:noFill/>
          <a:ln/>
        </p:spPr>
        <p:txBody>
          <a:bodyPr wrap="square" rtlCol="0" anchor="ctr"/>
          <a:lstStyle/>
          <a:p>
            <a:pPr indent="0" marL="0">
              <a:buNone/>
            </a:pPr>
            <a:r>
              <a:rPr lang="en-US" sz="1500" b="1" dirty="0">
                <a:solidFill>
                  <a:srgbClr val="1E2A24"/>
                </a:solidFill>
                <a:latin typeface="Century Schoolbook" pitchFamily="34" charset="0"/>
                <a:ea typeface="Century Schoolbook" pitchFamily="34" charset="-122"/>
                <a:cs typeface="Century Schoolbook" pitchFamily="34" charset="-120"/>
              </a:rPr>
              <a:t>Telemetry &amp; Dashboard Design</a:t>
            </a:r>
            <a:endParaRPr lang="en-US" sz="1500" dirty="0"/>
          </a:p>
        </p:txBody>
      </p:sp>
      <p:sp>
        <p:nvSpPr>
          <p:cNvPr id="9" name="Text 7"/>
          <p:cNvSpPr/>
          <p:nvPr/>
        </p:nvSpPr>
        <p:spPr>
          <a:xfrm>
            <a:off x="960120" y="2834640"/>
            <a:ext cx="4663440" cy="2743200"/>
          </a:xfrm>
          <a:prstGeom prst="rect">
            <a:avLst/>
          </a:prstGeom>
          <a:noFill/>
          <a:ln/>
        </p:spPr>
        <p:txBody>
          <a:bodyPr wrap="square" rtlCol="0" anchor="ctr"/>
          <a:lstStyle/>
          <a:p>
            <a:pPr indent="0" marL="0">
              <a:lnSpc>
                <a:spcPct val="130000"/>
              </a:lnSpc>
              <a:buNone/>
            </a:pPr>
            <a:r>
              <a:rPr lang="en-US" sz="1200" dirty="0">
                <a:solidFill>
                  <a:srgbClr val="6B7970"/>
                </a:solidFill>
                <a:latin typeface="Calibri" pitchFamily="34" charset="0"/>
                <a:ea typeface="Calibri" pitchFamily="34" charset="-122"/>
                <a:cs typeface="Calibri" pitchFamily="34" charset="-120"/>
              </a:rPr>
              <a:t>Raw telemetry JSON imported into Tableau. A calculated field converted each "Unhealthy" reading into a fixed downtime value. Factory and Device Type were used as dimensions, downtime aggregated as SUM, and bar charts sorted descending to highlight the worst performers. Views were combined into one interactive dashboard with factory-level filters.</a:t>
            </a:r>
            <a:endParaRPr lang="en-US" sz="1200" dirty="0"/>
          </a:p>
        </p:txBody>
      </p:sp>
      <p:sp>
        <p:nvSpPr>
          <p:cNvPr id="10" name="Shape 8"/>
          <p:cNvSpPr/>
          <p:nvPr/>
        </p:nvSpPr>
        <p:spPr>
          <a:xfrm>
            <a:off x="6263640" y="1828800"/>
            <a:ext cx="5257800" cy="3931920"/>
          </a:xfrm>
          <a:prstGeom prst="roundRect">
            <a:avLst>
              <a:gd name="adj" fmla="val 2326"/>
            </a:avLst>
          </a:prstGeom>
          <a:solidFill>
            <a:srgbClr val="F4F6F2"/>
          </a:solidFill>
          <a:ln/>
        </p:spPr>
      </p:sp>
      <p:sp>
        <p:nvSpPr>
          <p:cNvPr id="11" name="Shape 9"/>
          <p:cNvSpPr/>
          <p:nvPr/>
        </p:nvSpPr>
        <p:spPr>
          <a:xfrm>
            <a:off x="6583680" y="2148840"/>
            <a:ext cx="502920" cy="502920"/>
          </a:xfrm>
          <a:prstGeom prst="roundRect">
            <a:avLst>
              <a:gd name="adj" fmla="val 18182"/>
            </a:avLst>
          </a:prstGeom>
          <a:solidFill>
            <a:srgbClr val="1B3B2F"/>
          </a:solidFill>
          <a:ln/>
        </p:spPr>
      </p:sp>
      <p:sp>
        <p:nvSpPr>
          <p:cNvPr id="12" name="Text 10"/>
          <p:cNvSpPr/>
          <p:nvPr/>
        </p:nvSpPr>
        <p:spPr>
          <a:xfrm>
            <a:off x="6583680" y="2148840"/>
            <a:ext cx="502920" cy="502920"/>
          </a:xfrm>
          <a:prstGeom prst="rect">
            <a:avLst/>
          </a:prstGeom>
          <a:noFill/>
          <a:ln/>
        </p:spPr>
        <p:txBody>
          <a:bodyPr wrap="square" rtlCol="0" anchor="ctr"/>
          <a:lstStyle/>
          <a:p>
            <a:pPr algn="ctr" indent="0" marL="0">
              <a:buNone/>
            </a:pPr>
            <a:r>
              <a:rPr lang="en-US" sz="1800" b="1" dirty="0">
                <a:solidFill>
                  <a:srgbClr val="8BC34A"/>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7223760" y="2194560"/>
            <a:ext cx="4114800" cy="457200"/>
          </a:xfrm>
          <a:prstGeom prst="rect">
            <a:avLst/>
          </a:prstGeom>
          <a:noFill/>
          <a:ln/>
        </p:spPr>
        <p:txBody>
          <a:bodyPr wrap="square" rtlCol="0" anchor="ctr"/>
          <a:lstStyle/>
          <a:p>
            <a:pPr indent="0" marL="0">
              <a:buNone/>
            </a:pPr>
            <a:r>
              <a:rPr lang="en-US" sz="1500" b="1" dirty="0">
                <a:solidFill>
                  <a:srgbClr val="1E2A24"/>
                </a:solidFill>
                <a:latin typeface="Century Schoolbook" pitchFamily="34" charset="0"/>
                <a:ea typeface="Century Schoolbook" pitchFamily="34" charset="-122"/>
                <a:cs typeface="Century Schoolbook" pitchFamily="34" charset="-120"/>
              </a:rPr>
              <a:t>Payroll Cleaning &amp; Equity Analysis</a:t>
            </a:r>
            <a:endParaRPr lang="en-US" sz="1500" dirty="0"/>
          </a:p>
        </p:txBody>
      </p:sp>
      <p:sp>
        <p:nvSpPr>
          <p:cNvPr id="14" name="Text 12"/>
          <p:cNvSpPr/>
          <p:nvPr/>
        </p:nvSpPr>
        <p:spPr>
          <a:xfrm>
            <a:off x="6583680" y="2834640"/>
            <a:ext cx="4663440" cy="2743200"/>
          </a:xfrm>
          <a:prstGeom prst="rect">
            <a:avLst/>
          </a:prstGeom>
          <a:noFill/>
          <a:ln/>
        </p:spPr>
        <p:txBody>
          <a:bodyPr wrap="square" rtlCol="0" anchor="ctr"/>
          <a:lstStyle/>
          <a:p>
            <a:pPr indent="0" marL="0">
              <a:lnSpc>
                <a:spcPct val="130000"/>
              </a:lnSpc>
              <a:buNone/>
            </a:pPr>
            <a:r>
              <a:rPr lang="en-US" sz="1200" dirty="0">
                <a:solidFill>
                  <a:srgbClr val="6B7970"/>
                </a:solidFill>
                <a:latin typeface="Calibri" pitchFamily="34" charset="0"/>
                <a:ea typeface="Calibri" pitchFamily="34" charset="-122"/>
                <a:cs typeface="Calibri" pitchFamily="34" charset="-120"/>
              </a:rPr>
              <a:t>The payroll dataset was cleaned in Excel to remove inconsistencies and standardize formatting. Logical, IF-based functions classified employees into pay bands and compared compensation across genders to flag patterns suggestive of inequitable pay. Outputs were checked against Deloitte's example solutions to validate the approach before finalizing deliverables.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B2F"/>
        </a:solidFill>
      </p:bgPr>
    </p:bg>
    <p:spTree>
      <p:nvGrpSpPr>
        <p:cNvPr id="1" name=""/>
        <p:cNvGrpSpPr/>
        <p:nvPr/>
      </p:nvGrpSpPr>
      <p:grpSpPr>
        <a:xfrm>
          <a:off x="0" y="0"/>
          <a:ext cx="0" cy="0"/>
          <a:chOff x="0" y="0"/>
          <a:chExt cx="0" cy="0"/>
        </a:xfrm>
      </p:grpSpPr>
      <p:sp>
        <p:nvSpPr>
          <p:cNvPr id="2" name="Text 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6B7970"/>
                </a:solidFill>
                <a:latin typeface="Calibri" pitchFamily="34" charset="0"/>
                <a:ea typeface="Calibri" pitchFamily="34" charset="-122"/>
                <a:cs typeface="Calibri" pitchFamily="34" charset="-120"/>
              </a:rPr>
              <a:t>10</a:t>
            </a:r>
            <a:endParaRPr lang="en-US" sz="1000" dirty="0"/>
          </a:p>
        </p:txBody>
      </p:sp>
      <p:sp>
        <p:nvSpPr>
          <p:cNvPr id="3" name="Text 1"/>
          <p:cNvSpPr/>
          <p:nvPr/>
        </p:nvSpPr>
        <p:spPr>
          <a:xfrm>
            <a:off x="640080" y="548640"/>
            <a:ext cx="5486400" cy="320040"/>
          </a:xfrm>
          <a:prstGeom prst="rect">
            <a:avLst/>
          </a:prstGeom>
          <a:noFill/>
          <a:ln/>
        </p:spPr>
        <p:txBody>
          <a:bodyPr wrap="square" rtlCol="0" anchor="ctr"/>
          <a:lstStyle/>
          <a:p>
            <a:pPr indent="0" marL="0">
              <a:buNone/>
            </a:pPr>
            <a:r>
              <a:rPr lang="en-US" sz="1200" b="1" spc="200" kern="0" dirty="0">
                <a:solidFill>
                  <a:srgbClr val="8BC34A"/>
                </a:solidFill>
                <a:latin typeface="Calibri" pitchFamily="34" charset="0"/>
                <a:ea typeface="Calibri" pitchFamily="34" charset="-122"/>
                <a:cs typeface="Calibri" pitchFamily="34" charset="-120"/>
              </a:rPr>
              <a:t>EXPECTED OUTCOMES</a:t>
            </a:r>
            <a:endParaRPr lang="en-US" sz="1200" dirty="0"/>
          </a:p>
        </p:txBody>
      </p:sp>
      <p:sp>
        <p:nvSpPr>
          <p:cNvPr id="4" name="Text 2"/>
          <p:cNvSpPr/>
          <p:nvPr/>
        </p:nvSpPr>
        <p:spPr>
          <a:xfrm>
            <a:off x="640080" y="868680"/>
            <a:ext cx="9601200" cy="640080"/>
          </a:xfrm>
          <a:prstGeom prst="rect">
            <a:avLst/>
          </a:prstGeom>
          <a:noFill/>
          <a:ln/>
        </p:spPr>
        <p:txBody>
          <a:bodyPr wrap="square" rtlCol="0" anchor="ctr"/>
          <a:lstStyle/>
          <a:p>
            <a:pPr indent="0" marL="0">
              <a:buNone/>
            </a:pPr>
            <a:r>
              <a:rPr lang="en-US" sz="2800" b="1" dirty="0">
                <a:solidFill>
                  <a:srgbClr val="FFFFFF"/>
                </a:solidFill>
                <a:latin typeface="Century Schoolbook" pitchFamily="34" charset="0"/>
                <a:ea typeface="Century Schoolbook" pitchFamily="34" charset="-122"/>
                <a:cs typeface="Century Schoolbook" pitchFamily="34" charset="-120"/>
              </a:rPr>
              <a:t>What the simulation delivered</a:t>
            </a:r>
            <a:endParaRPr lang="en-US" sz="2800" dirty="0"/>
          </a:p>
        </p:txBody>
      </p:sp>
      <p:sp>
        <p:nvSpPr>
          <p:cNvPr id="5" name="Shape 3"/>
          <p:cNvSpPr/>
          <p:nvPr/>
        </p:nvSpPr>
        <p:spPr>
          <a:xfrm>
            <a:off x="640080" y="1874520"/>
            <a:ext cx="10881360" cy="621792"/>
          </a:xfrm>
          <a:prstGeom prst="roundRect">
            <a:avLst>
              <a:gd name="adj" fmla="val 8824"/>
            </a:avLst>
          </a:prstGeom>
          <a:solidFill>
            <a:srgbClr val="F4F6F2"/>
          </a:solidFill>
          <a:ln/>
        </p:spPr>
      </p:sp>
      <p:sp>
        <p:nvSpPr>
          <p:cNvPr id="6" name="Shape 4"/>
          <p:cNvSpPr/>
          <p:nvPr/>
        </p:nvSpPr>
        <p:spPr>
          <a:xfrm>
            <a:off x="914400" y="2011680"/>
            <a:ext cx="347472" cy="347472"/>
          </a:xfrm>
          <a:prstGeom prst="roundRect">
            <a:avLst>
              <a:gd name="adj" fmla="val 21053"/>
            </a:avLst>
          </a:prstGeom>
          <a:solidFill>
            <a:srgbClr val="8BC34A"/>
          </a:solidFill>
          <a:ln/>
        </p:spPr>
      </p:sp>
      <p:sp>
        <p:nvSpPr>
          <p:cNvPr id="7" name="Text 5"/>
          <p:cNvSpPr/>
          <p:nvPr/>
        </p:nvSpPr>
        <p:spPr>
          <a:xfrm>
            <a:off x="914400" y="2011680"/>
            <a:ext cx="347472" cy="347472"/>
          </a:xfrm>
          <a:prstGeom prst="rect">
            <a:avLst/>
          </a:prstGeom>
          <a:noFill/>
          <a:ln/>
        </p:spPr>
        <p:txBody>
          <a:bodyPr wrap="square" rtlCol="0" anchor="ctr"/>
          <a:lstStyle/>
          <a:p>
            <a:pPr algn="ctr" indent="0" marL="0">
              <a:buNone/>
            </a:pPr>
            <a:r>
              <a:rPr lang="en-US" sz="1400" b="1" dirty="0">
                <a:solidFill>
                  <a:srgbClr val="10241C"/>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463040" y="1874520"/>
            <a:ext cx="9784080" cy="621792"/>
          </a:xfrm>
          <a:prstGeom prst="rect">
            <a:avLst/>
          </a:prstGeom>
          <a:noFill/>
          <a:ln/>
        </p:spPr>
        <p:txBody>
          <a:bodyPr wrap="square" rtlCol="0" anchor="ctr"/>
          <a:lstStyle/>
          <a:p>
            <a:pPr indent="0" marL="0">
              <a:buNone/>
            </a:pPr>
            <a:r>
              <a:rPr lang="en-US" sz="1350" dirty="0">
                <a:solidFill>
                  <a:srgbClr val="1E2A24"/>
                </a:solidFill>
                <a:latin typeface="Calibri" pitchFamily="34" charset="0"/>
                <a:ea typeface="Calibri" pitchFamily="34" charset="-122"/>
                <a:cs typeface="Calibri" pitchFamily="34" charset="-120"/>
              </a:rPr>
              <a:t>A functional, interactive Tableau dashboard identifying downtime hotspots</a:t>
            </a:r>
            <a:endParaRPr lang="en-US" sz="1350" dirty="0"/>
          </a:p>
        </p:txBody>
      </p:sp>
      <p:sp>
        <p:nvSpPr>
          <p:cNvPr id="9" name="Shape 7"/>
          <p:cNvSpPr/>
          <p:nvPr/>
        </p:nvSpPr>
        <p:spPr>
          <a:xfrm>
            <a:off x="640080" y="2651760"/>
            <a:ext cx="10881360" cy="621792"/>
          </a:xfrm>
          <a:prstGeom prst="roundRect">
            <a:avLst>
              <a:gd name="adj" fmla="val 8824"/>
            </a:avLst>
          </a:prstGeom>
          <a:solidFill>
            <a:srgbClr val="F4F6F2"/>
          </a:solidFill>
          <a:ln/>
        </p:spPr>
      </p:sp>
      <p:sp>
        <p:nvSpPr>
          <p:cNvPr id="10" name="Shape 8"/>
          <p:cNvSpPr/>
          <p:nvPr/>
        </p:nvSpPr>
        <p:spPr>
          <a:xfrm>
            <a:off x="914400" y="2788920"/>
            <a:ext cx="347472" cy="347472"/>
          </a:xfrm>
          <a:prstGeom prst="roundRect">
            <a:avLst>
              <a:gd name="adj" fmla="val 21053"/>
            </a:avLst>
          </a:prstGeom>
          <a:solidFill>
            <a:srgbClr val="8BC34A"/>
          </a:solidFill>
          <a:ln/>
        </p:spPr>
      </p:sp>
      <p:sp>
        <p:nvSpPr>
          <p:cNvPr id="11" name="Text 9"/>
          <p:cNvSpPr/>
          <p:nvPr/>
        </p:nvSpPr>
        <p:spPr>
          <a:xfrm>
            <a:off x="914400" y="2788920"/>
            <a:ext cx="347472" cy="347472"/>
          </a:xfrm>
          <a:prstGeom prst="rect">
            <a:avLst/>
          </a:prstGeom>
          <a:noFill/>
          <a:ln/>
        </p:spPr>
        <p:txBody>
          <a:bodyPr wrap="square" rtlCol="0" anchor="ctr"/>
          <a:lstStyle/>
          <a:p>
            <a:pPr algn="ctr" indent="0" marL="0">
              <a:buNone/>
            </a:pPr>
            <a:r>
              <a:rPr lang="en-US" sz="1400" b="1" dirty="0">
                <a:solidFill>
                  <a:srgbClr val="10241C"/>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463040" y="2651760"/>
            <a:ext cx="9784080" cy="621792"/>
          </a:xfrm>
          <a:prstGeom prst="rect">
            <a:avLst/>
          </a:prstGeom>
          <a:noFill/>
          <a:ln/>
        </p:spPr>
        <p:txBody>
          <a:bodyPr wrap="square" rtlCol="0" anchor="ctr"/>
          <a:lstStyle/>
          <a:p>
            <a:pPr indent="0" marL="0">
              <a:buNone/>
            </a:pPr>
            <a:r>
              <a:rPr lang="en-US" sz="1350" dirty="0">
                <a:solidFill>
                  <a:srgbClr val="1E2A24"/>
                </a:solidFill>
                <a:latin typeface="Calibri" pitchFamily="34" charset="0"/>
                <a:ea typeface="Calibri" pitchFamily="34" charset="-122"/>
                <a:cs typeface="Calibri" pitchFamily="34" charset="-120"/>
              </a:rPr>
              <a:t>Actionable maintenance-prioritization insight for Daikibo Industrials</a:t>
            </a:r>
            <a:endParaRPr lang="en-US" sz="1350" dirty="0"/>
          </a:p>
        </p:txBody>
      </p:sp>
      <p:sp>
        <p:nvSpPr>
          <p:cNvPr id="13" name="Shape 11"/>
          <p:cNvSpPr/>
          <p:nvPr/>
        </p:nvSpPr>
        <p:spPr>
          <a:xfrm>
            <a:off x="640080" y="3429000"/>
            <a:ext cx="10881360" cy="621792"/>
          </a:xfrm>
          <a:prstGeom prst="roundRect">
            <a:avLst>
              <a:gd name="adj" fmla="val 8824"/>
            </a:avLst>
          </a:prstGeom>
          <a:solidFill>
            <a:srgbClr val="F4F6F2"/>
          </a:solidFill>
          <a:ln/>
        </p:spPr>
      </p:sp>
      <p:sp>
        <p:nvSpPr>
          <p:cNvPr id="14" name="Shape 12"/>
          <p:cNvSpPr/>
          <p:nvPr/>
        </p:nvSpPr>
        <p:spPr>
          <a:xfrm>
            <a:off x="914400" y="3566160"/>
            <a:ext cx="347472" cy="347472"/>
          </a:xfrm>
          <a:prstGeom prst="roundRect">
            <a:avLst>
              <a:gd name="adj" fmla="val 21053"/>
            </a:avLst>
          </a:prstGeom>
          <a:solidFill>
            <a:srgbClr val="8BC34A"/>
          </a:solidFill>
          <a:ln/>
        </p:spPr>
      </p:sp>
      <p:sp>
        <p:nvSpPr>
          <p:cNvPr id="15" name="Text 13"/>
          <p:cNvSpPr/>
          <p:nvPr/>
        </p:nvSpPr>
        <p:spPr>
          <a:xfrm>
            <a:off x="914400" y="3566160"/>
            <a:ext cx="347472" cy="347472"/>
          </a:xfrm>
          <a:prstGeom prst="rect">
            <a:avLst/>
          </a:prstGeom>
          <a:noFill/>
          <a:ln/>
        </p:spPr>
        <p:txBody>
          <a:bodyPr wrap="square" rtlCol="0" anchor="ctr"/>
          <a:lstStyle/>
          <a:p>
            <a:pPr algn="ctr" indent="0" marL="0">
              <a:buNone/>
            </a:pPr>
            <a:r>
              <a:rPr lang="en-US" sz="1400" b="1" dirty="0">
                <a:solidFill>
                  <a:srgbClr val="10241C"/>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463040" y="3429000"/>
            <a:ext cx="9784080" cy="621792"/>
          </a:xfrm>
          <a:prstGeom prst="rect">
            <a:avLst/>
          </a:prstGeom>
          <a:noFill/>
          <a:ln/>
        </p:spPr>
        <p:txBody>
          <a:bodyPr wrap="square" rtlCol="0" anchor="ctr"/>
          <a:lstStyle/>
          <a:p>
            <a:pPr indent="0" marL="0">
              <a:buNone/>
            </a:pPr>
            <a:r>
              <a:rPr lang="en-US" sz="1350" dirty="0">
                <a:solidFill>
                  <a:srgbClr val="1E2A24"/>
                </a:solidFill>
                <a:latin typeface="Calibri" pitchFamily="34" charset="0"/>
                <a:ea typeface="Calibri" pitchFamily="34" charset="-122"/>
                <a:cs typeface="Calibri" pitchFamily="34" charset="-120"/>
              </a:rPr>
              <a:t>A cleaned payroll dataset with a clear pay-band classification model</a:t>
            </a:r>
            <a:endParaRPr lang="en-US" sz="1350" dirty="0"/>
          </a:p>
        </p:txBody>
      </p:sp>
      <p:sp>
        <p:nvSpPr>
          <p:cNvPr id="17" name="Shape 15"/>
          <p:cNvSpPr/>
          <p:nvPr/>
        </p:nvSpPr>
        <p:spPr>
          <a:xfrm>
            <a:off x="640080" y="4206240"/>
            <a:ext cx="10881360" cy="621792"/>
          </a:xfrm>
          <a:prstGeom prst="roundRect">
            <a:avLst>
              <a:gd name="adj" fmla="val 8824"/>
            </a:avLst>
          </a:prstGeom>
          <a:solidFill>
            <a:srgbClr val="F4F6F2"/>
          </a:solidFill>
          <a:ln/>
        </p:spPr>
      </p:sp>
      <p:sp>
        <p:nvSpPr>
          <p:cNvPr id="18" name="Shape 16"/>
          <p:cNvSpPr/>
          <p:nvPr/>
        </p:nvSpPr>
        <p:spPr>
          <a:xfrm>
            <a:off x="914400" y="4343400"/>
            <a:ext cx="347472" cy="347472"/>
          </a:xfrm>
          <a:prstGeom prst="roundRect">
            <a:avLst>
              <a:gd name="adj" fmla="val 21053"/>
            </a:avLst>
          </a:prstGeom>
          <a:solidFill>
            <a:srgbClr val="8BC34A"/>
          </a:solidFill>
          <a:ln/>
        </p:spPr>
      </p:sp>
      <p:sp>
        <p:nvSpPr>
          <p:cNvPr id="19" name="Text 17"/>
          <p:cNvSpPr/>
          <p:nvPr/>
        </p:nvSpPr>
        <p:spPr>
          <a:xfrm>
            <a:off x="914400" y="4343400"/>
            <a:ext cx="347472" cy="347472"/>
          </a:xfrm>
          <a:prstGeom prst="rect">
            <a:avLst/>
          </a:prstGeom>
          <a:noFill/>
          <a:ln/>
        </p:spPr>
        <p:txBody>
          <a:bodyPr wrap="square" rtlCol="0" anchor="ctr"/>
          <a:lstStyle/>
          <a:p>
            <a:pPr algn="ctr" indent="0" marL="0">
              <a:buNone/>
            </a:pPr>
            <a:r>
              <a:rPr lang="en-US" sz="1400" b="1" dirty="0">
                <a:solidFill>
                  <a:srgbClr val="10241C"/>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463040" y="4206240"/>
            <a:ext cx="9784080" cy="621792"/>
          </a:xfrm>
          <a:prstGeom prst="rect">
            <a:avLst/>
          </a:prstGeom>
          <a:noFill/>
          <a:ln/>
        </p:spPr>
        <p:txBody>
          <a:bodyPr wrap="square" rtlCol="0" anchor="ctr"/>
          <a:lstStyle/>
          <a:p>
            <a:pPr indent="0" marL="0">
              <a:buNone/>
            </a:pPr>
            <a:r>
              <a:rPr lang="en-US" sz="1350" dirty="0">
                <a:solidFill>
                  <a:srgbClr val="1E2A24"/>
                </a:solidFill>
                <a:latin typeface="Calibri" pitchFamily="34" charset="0"/>
                <a:ea typeface="Calibri" pitchFamily="34" charset="-122"/>
                <a:cs typeface="Calibri" pitchFamily="34" charset="-120"/>
              </a:rPr>
              <a:t>An evidence-based assessment of gender pay equity with recommendations</a:t>
            </a:r>
            <a:endParaRPr lang="en-US" sz="1350" dirty="0"/>
          </a:p>
        </p:txBody>
      </p:sp>
      <p:sp>
        <p:nvSpPr>
          <p:cNvPr id="21" name="Shape 19"/>
          <p:cNvSpPr/>
          <p:nvPr/>
        </p:nvSpPr>
        <p:spPr>
          <a:xfrm>
            <a:off x="640080" y="4983480"/>
            <a:ext cx="10881360" cy="621792"/>
          </a:xfrm>
          <a:prstGeom prst="roundRect">
            <a:avLst>
              <a:gd name="adj" fmla="val 8824"/>
            </a:avLst>
          </a:prstGeom>
          <a:solidFill>
            <a:srgbClr val="F4F6F2"/>
          </a:solidFill>
          <a:ln/>
        </p:spPr>
      </p:sp>
      <p:sp>
        <p:nvSpPr>
          <p:cNvPr id="22" name="Shape 20"/>
          <p:cNvSpPr/>
          <p:nvPr/>
        </p:nvSpPr>
        <p:spPr>
          <a:xfrm>
            <a:off x="914400" y="5120640"/>
            <a:ext cx="347472" cy="347472"/>
          </a:xfrm>
          <a:prstGeom prst="roundRect">
            <a:avLst>
              <a:gd name="adj" fmla="val 21053"/>
            </a:avLst>
          </a:prstGeom>
          <a:solidFill>
            <a:srgbClr val="8BC34A"/>
          </a:solidFill>
          <a:ln/>
        </p:spPr>
      </p:sp>
      <p:sp>
        <p:nvSpPr>
          <p:cNvPr id="23" name="Text 21"/>
          <p:cNvSpPr/>
          <p:nvPr/>
        </p:nvSpPr>
        <p:spPr>
          <a:xfrm>
            <a:off x="914400" y="5120640"/>
            <a:ext cx="347472" cy="347472"/>
          </a:xfrm>
          <a:prstGeom prst="rect">
            <a:avLst/>
          </a:prstGeom>
          <a:noFill/>
          <a:ln/>
        </p:spPr>
        <p:txBody>
          <a:bodyPr wrap="square" rtlCol="0" anchor="ctr"/>
          <a:lstStyle/>
          <a:p>
            <a:pPr algn="ctr" indent="0" marL="0">
              <a:buNone/>
            </a:pPr>
            <a:r>
              <a:rPr lang="en-US" sz="1400" b="1" dirty="0">
                <a:solidFill>
                  <a:srgbClr val="10241C"/>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1463040" y="4983480"/>
            <a:ext cx="9784080" cy="621792"/>
          </a:xfrm>
          <a:prstGeom prst="rect">
            <a:avLst/>
          </a:prstGeom>
          <a:noFill/>
          <a:ln/>
        </p:spPr>
        <p:txBody>
          <a:bodyPr wrap="square" rtlCol="0" anchor="ctr"/>
          <a:lstStyle/>
          <a:p>
            <a:pPr indent="0" marL="0">
              <a:buNone/>
            </a:pPr>
            <a:r>
              <a:rPr lang="en-US" sz="1350" dirty="0">
                <a:solidFill>
                  <a:srgbClr val="1E2A24"/>
                </a:solidFill>
                <a:latin typeface="Calibri" pitchFamily="34" charset="0"/>
                <a:ea typeface="Calibri" pitchFamily="34" charset="-122"/>
                <a:cs typeface="Calibri" pitchFamily="34" charset="-120"/>
              </a:rPr>
              <a:t>Strengthened skills in data cleaning, dashboarding &amp; business communication</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B2F"/>
        </a:solidFill>
      </p:bgPr>
    </p:bg>
    <p:spTree>
      <p:nvGrpSpPr>
        <p:cNvPr id="1" name=""/>
        <p:cNvGrpSpPr/>
        <p:nvPr/>
      </p:nvGrpSpPr>
      <p:grpSpPr>
        <a:xfrm>
          <a:off x="0" y="0"/>
          <a:ext cx="0" cy="0"/>
          <a:chOff x="0" y="0"/>
          <a:chExt cx="0" cy="0"/>
        </a:xfrm>
      </p:grpSpPr>
      <p:sp>
        <p:nvSpPr>
          <p:cNvPr id="2" name="Shape 0"/>
          <p:cNvSpPr/>
          <p:nvPr/>
        </p:nvSpPr>
        <p:spPr>
          <a:xfrm rot="1200000">
            <a:off x="-2743200" y="3200400"/>
            <a:ext cx="7315200" cy="9144000"/>
          </a:xfrm>
          <a:prstGeom prst="rect">
            <a:avLst/>
          </a:prstGeom>
          <a:solidFill>
            <a:srgbClr val="10241C"/>
          </a:solidFill>
          <a:ln/>
        </p:spPr>
      </p:sp>
      <p:sp>
        <p:nvSpPr>
          <p:cNvPr id="3" name="Shape 1"/>
          <p:cNvSpPr/>
          <p:nvPr/>
        </p:nvSpPr>
        <p:spPr>
          <a:xfrm>
            <a:off x="10515600" y="640080"/>
            <a:ext cx="548640" cy="548640"/>
          </a:xfrm>
          <a:prstGeom prst="roundRect">
            <a:avLst>
              <a:gd name="adj" fmla="val 20000"/>
            </a:avLst>
          </a:prstGeom>
          <a:solidFill>
            <a:srgbClr val="8BC34A"/>
          </a:solidFill>
          <a:ln/>
        </p:spPr>
      </p:sp>
      <p:sp>
        <p:nvSpPr>
          <p:cNvPr id="4" name="Text 2"/>
          <p:cNvSpPr/>
          <p:nvPr/>
        </p:nvSpPr>
        <p:spPr>
          <a:xfrm>
            <a:off x="822960" y="2468880"/>
            <a:ext cx="7315200" cy="1005840"/>
          </a:xfrm>
          <a:prstGeom prst="rect">
            <a:avLst/>
          </a:prstGeom>
          <a:noFill/>
          <a:ln/>
        </p:spPr>
        <p:txBody>
          <a:bodyPr wrap="square" rtlCol="0" anchor="ctr"/>
          <a:lstStyle/>
          <a:p>
            <a:pPr indent="0" marL="0">
              <a:buNone/>
            </a:pPr>
            <a:r>
              <a:rPr lang="en-US" sz="4400" b="1" dirty="0">
                <a:solidFill>
                  <a:srgbClr val="FFFFFF"/>
                </a:solidFill>
                <a:latin typeface="Century Schoolbook" pitchFamily="34" charset="0"/>
                <a:ea typeface="Century Schoolbook" pitchFamily="34" charset="-122"/>
                <a:cs typeface="Century Schoolbook" pitchFamily="34" charset="-120"/>
              </a:rPr>
              <a:t>Thank You</a:t>
            </a:r>
            <a:endParaRPr lang="en-US" sz="4400" dirty="0"/>
          </a:p>
        </p:txBody>
      </p:sp>
      <p:sp>
        <p:nvSpPr>
          <p:cNvPr id="5" name="Text 3"/>
          <p:cNvSpPr/>
          <p:nvPr/>
        </p:nvSpPr>
        <p:spPr>
          <a:xfrm>
            <a:off x="822960" y="3429000"/>
            <a:ext cx="7315200" cy="365760"/>
          </a:xfrm>
          <a:prstGeom prst="rect">
            <a:avLst/>
          </a:prstGeom>
          <a:noFill/>
          <a:ln/>
        </p:spPr>
        <p:txBody>
          <a:bodyPr wrap="square" rtlCol="0" anchor="ctr"/>
          <a:lstStyle/>
          <a:p>
            <a:pPr indent="0" marL="0">
              <a:buNone/>
            </a:pPr>
            <a:r>
              <a:rPr lang="en-US" sz="1400" dirty="0">
                <a:solidFill>
                  <a:srgbClr val="8BC34A"/>
                </a:solidFill>
                <a:latin typeface="Calibri" pitchFamily="34" charset="0"/>
                <a:ea typeface="Calibri" pitchFamily="34" charset="-122"/>
                <a:cs typeface="Calibri" pitchFamily="34" charset="-120"/>
              </a:rPr>
              <a:t>Forage Completion Certificate is attached separately.</a:t>
            </a:r>
            <a:endParaRPr lang="en-US" sz="1400" dirty="0"/>
          </a:p>
        </p:txBody>
      </p:sp>
      <p:sp>
        <p:nvSpPr>
          <p:cNvPr id="6" name="Text 4"/>
          <p:cNvSpPr/>
          <p:nvPr/>
        </p:nvSpPr>
        <p:spPr>
          <a:xfrm>
            <a:off x="822960" y="6035040"/>
            <a:ext cx="9144000" cy="365760"/>
          </a:xfrm>
          <a:prstGeom prst="rect">
            <a:avLst/>
          </a:prstGeom>
          <a:noFill/>
          <a:ln/>
        </p:spPr>
        <p:txBody>
          <a:bodyPr wrap="square" rtlCol="0" anchor="ctr"/>
          <a:lstStyle/>
          <a:p>
            <a:pPr indent="0" marL="0">
              <a:buNone/>
            </a:pPr>
            <a:r>
              <a:rPr lang="en-US" sz="1100" dirty="0">
                <a:solidFill>
                  <a:srgbClr val="6B7970"/>
                </a:solidFill>
                <a:latin typeface="Calibri" pitchFamily="34" charset="0"/>
                <a:ea typeface="Calibri" pitchFamily="34" charset="-122"/>
                <a:cs typeface="Calibri" pitchFamily="34" charset="-120"/>
              </a:rPr>
              <a:t>Dhruv Rastogi  |  CS23411210  |  B.Tech CSE, 7th Semester (4CSE12)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2026-08-30T19:55:41Z</dcterms:created>
  <dcterms:modified xsi:type="dcterms:W3CDTF">2026-08-30T19:55:41Z</dcterms:modified>
</cp:coreProperties>
</file>